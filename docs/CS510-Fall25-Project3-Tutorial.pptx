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07" r:id="rId4"/>
    <p:sldId id="258" r:id="rId5"/>
    <p:sldId id="265" r:id="rId6"/>
    <p:sldId id="267" r:id="rId7"/>
    <p:sldId id="268" r:id="rId8"/>
    <p:sldId id="269" r:id="rId9"/>
    <p:sldId id="259" r:id="rId10"/>
    <p:sldId id="270" r:id="rId11"/>
    <p:sldId id="271" r:id="rId12"/>
    <p:sldId id="272" r:id="rId13"/>
    <p:sldId id="273" r:id="rId14"/>
    <p:sldId id="278" r:id="rId15"/>
    <p:sldId id="274" r:id="rId16"/>
    <p:sldId id="275" r:id="rId17"/>
    <p:sldId id="276" r:id="rId18"/>
    <p:sldId id="296" r:id="rId19"/>
    <p:sldId id="277" r:id="rId20"/>
    <p:sldId id="280" r:id="rId21"/>
    <p:sldId id="302" r:id="rId22"/>
    <p:sldId id="279" r:id="rId23"/>
    <p:sldId id="282" r:id="rId24"/>
    <p:sldId id="303" r:id="rId25"/>
    <p:sldId id="309" r:id="rId26"/>
    <p:sldId id="297" r:id="rId27"/>
    <p:sldId id="298" r:id="rId28"/>
    <p:sldId id="299" r:id="rId29"/>
    <p:sldId id="300" r:id="rId30"/>
    <p:sldId id="308" r:id="rId31"/>
    <p:sldId id="301" r:id="rId32"/>
    <p:sldId id="283" r:id="rId33"/>
    <p:sldId id="304" r:id="rId34"/>
    <p:sldId id="284" r:id="rId35"/>
    <p:sldId id="305" r:id="rId36"/>
    <p:sldId id="261" r:id="rId37"/>
    <p:sldId id="291" r:id="rId38"/>
    <p:sldId id="290" r:id="rId39"/>
    <p:sldId id="292" r:id="rId40"/>
    <p:sldId id="293" r:id="rId41"/>
    <p:sldId id="306" r:id="rId42"/>
    <p:sldId id="286" r:id="rId43"/>
    <p:sldId id="263" r:id="rId44"/>
    <p:sldId id="287" r:id="rId45"/>
    <p:sldId id="285" r:id="rId46"/>
    <p:sldId id="262" r:id="rId47"/>
    <p:sldId id="28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8" userDrawn="1">
          <p15:clr>
            <a:srgbClr val="A4A3A4"/>
          </p15:clr>
        </p15:guide>
        <p15:guide id="2" orient="horz" pos="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1629"/>
  </p:normalViewPr>
  <p:slideViewPr>
    <p:cSldViewPr snapToGrid="0" snapToObjects="1">
      <p:cViewPr varScale="1">
        <p:scale>
          <a:sx n="143" d="100"/>
          <a:sy n="143" d="100"/>
        </p:scale>
        <p:origin x="664" y="200"/>
      </p:cViewPr>
      <p:guideLst>
        <p:guide pos="528"/>
        <p:guide orient="horz" pos="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FF610-C449-EF44-9B18-5C9505D61A2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D6A1B-0A0B-E44A-9E68-82AF8DFBD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6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8B3CA-193F-0349-86AD-D7D354B9F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B0C16-2D5D-4D49-902F-E289EFE1B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AE0C-5E2D-584B-AB51-3A971B61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75CB-CC02-B441-A61A-5E29F9C47F08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DF4F-F032-F84B-B42D-0E091426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5A731-2856-4B4D-B417-537F240A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4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AACE6-C587-EE46-9E68-39365B92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2000"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800"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7C480-A98C-9646-A326-079FED2F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10BD-E4A7-5144-8D8B-2E425295E0AA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72C74-610C-3F45-A664-42997DA9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CC7BA-B1EE-D94B-A9DA-130B6755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3B122D9-E88A-D040-9FD1-40E1959A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434"/>
          </a:xfrm>
        </p:spPr>
        <p:txBody>
          <a:bodyPr>
            <a:normAutofit/>
          </a:bodyPr>
          <a:lstStyle>
            <a:lvl1pPr>
              <a:defRPr sz="3200" b="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073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D119-1E8A-DF4B-AACA-B8D251BB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A1B5-E90D-FB4C-8D7B-C2E2A9AED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8D82-6646-AD48-9C0F-345A21F4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17ACA-CD92-5347-9C0D-EB8AE5B63AFE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7C91F-DE22-404F-92E0-82D7E373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B2C5B-6746-2B4D-B726-5027A36E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7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1BB4-1D10-C047-A71B-B4ED04C6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3C76-9CAA-DA4A-9937-BE0817503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C67F4-A0F9-204B-9D9A-D5DC9032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6C3DB-05E3-2C48-8A2B-97897144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913D-850E-704D-8445-65689C2A7F2C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91216-67E5-674E-B181-46BC2007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DDF7E-4F7D-4847-891C-8700BC5C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3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90BC-935F-D743-A7F1-01DB144C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13C7-09FE-A64C-8C75-55186868C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BDC61-0F85-1F47-B729-97AA5FA47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6BBB0-F395-C34E-93E8-69516FC2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D7367-6ADF-2A40-BF8C-EAC421DE2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8ED53-7AE2-2040-9554-288849E5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35F7-5322-DF4D-BE5C-D07BDA2AD8F2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01405-D124-7747-8724-E33623F4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39676-0BB0-9340-92C7-D38408B7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8054-417D-6F48-B8FE-17246131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C6029-C65C-164B-97AF-708145F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8DF7-D2AD-DA40-BA89-844617963716}" type="datetime1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C26A8-15BD-A14F-82AD-AD29874D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ACD12-B4B2-3D4C-991E-26AC9372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64C09-7D8B-DC47-845C-8B06E5CB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D6CD-772F-8145-8242-A6C20F0359CB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C1681-786E-2849-9314-7D80FC5D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6D12-6CC5-AB4B-A9AA-B2E8E533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4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E83F-02BE-F342-AD72-14E46EFB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8CD9-F5C4-8944-AA45-2B913D93C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E2FE5-090D-5549-A0BB-C9471586A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2B4B8-1D36-594F-9F43-1311B4FA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EA76-DE4E-8D46-87A1-AE022B966D5E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5252D-58D0-BB46-A62F-6EA27AF2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310F9-2280-1F42-AC96-5CCD44AF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9F6B-CE95-1D43-8068-CD2EB743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D5AB3-9110-D641-AFB1-38A519038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EB9CC-0CB3-874B-B8DD-53D641221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11A39-AE28-3045-98BE-414EEBD3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816C-6193-6E4F-A673-ABBFCC8CFE4E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BB5C7-C1D4-DB42-9DD0-15402E3E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6E2B-6C2B-F643-B7DA-944F25C8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7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AAB7-94DE-8E4F-B26C-02A7E01A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2357C-DF91-744E-A428-28E4096B2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EBEAC-94CF-204F-9312-215A1D93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2FF06-BB61-0D4E-B789-40585E757A2F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86E9D-83A5-E845-A9C1-0841549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80A4-D761-C947-993D-16DD9A0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3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123BE-307A-E342-BB5A-F38E41B21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AD9E6-8886-FD47-A176-778B8433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86BA-1628-C344-B15A-79C4A0D4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0BFA-EBCC-244B-8D8F-C2FAEFCC8262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4483E-3679-394C-A8DD-76952016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CDA1-6688-9046-B300-AB6CE208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7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12FD0-1846-AC4F-BD7C-DFA7C5EE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3F058-5425-CB44-8AB6-AF46EA6E3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27760"/>
            <a:ext cx="10515600" cy="5049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D6262-1535-C641-B129-463143BC0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EBE308C-669E-4046-932B-BFA0D233DAD8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233E-09F8-8248-A3F1-44791B54A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8E9B4-E194-E343-BFF9-5A6976F12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B1F091-3A24-4346-912C-5ECD06B05E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5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ang6590@purdu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settings/organization/projects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hyperlink" Target="https://platform.openai.com/settings/organization/usage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mailto:feng292@purdue.edu" TargetMode="External"/><Relationship Id="rId2" Type="http://schemas.openxmlformats.org/officeDocument/2006/relationships/hyperlink" Target="mailto:wang6590@purdu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EDBE-1DBB-7E47-B1F1-59B20D81F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0412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venir Next LT Pro" panose="020B0504020202020204" pitchFamily="34" charset="77"/>
              </a:rPr>
              <a:t>Project 3 Tutorial</a:t>
            </a:r>
            <a:br>
              <a:rPr lang="en-US" sz="4400" dirty="0">
                <a:latin typeface="Avenir Next LT Pro" panose="020B0504020202020204" pitchFamily="34" charset="77"/>
              </a:rPr>
            </a:br>
            <a:r>
              <a:rPr lang="en-US" altLang="zh-CN" sz="3600" dirty="0">
                <a:latin typeface="Avenir Next LT Pro" panose="020B0504020202020204" pitchFamily="34" charset="77"/>
              </a:rPr>
              <a:t>Repository-level</a:t>
            </a:r>
            <a:r>
              <a:rPr lang="zh-CN" altLang="en-US" sz="3600" dirty="0">
                <a:latin typeface="Avenir Next LT Pro" panose="020B0504020202020204" pitchFamily="34" charset="77"/>
              </a:rPr>
              <a:t> </a:t>
            </a:r>
            <a:r>
              <a:rPr lang="en-US" altLang="zh-CN" sz="3600" dirty="0">
                <a:latin typeface="Avenir Next LT Pro" panose="020B0504020202020204" pitchFamily="34" charset="77"/>
              </a:rPr>
              <a:t>Program</a:t>
            </a:r>
            <a:r>
              <a:rPr lang="zh-CN" altLang="en-US" sz="3600" dirty="0">
                <a:latin typeface="Avenir Next LT Pro" panose="020B0504020202020204" pitchFamily="34" charset="77"/>
              </a:rPr>
              <a:t> </a:t>
            </a:r>
            <a:r>
              <a:rPr lang="en-US" altLang="zh-CN" sz="3600" dirty="0">
                <a:latin typeface="Avenir Next LT Pro" panose="020B0504020202020204" pitchFamily="34" charset="77"/>
              </a:rPr>
              <a:t>Slicing</a:t>
            </a:r>
            <a:endParaRPr lang="en-US" sz="4400" dirty="0">
              <a:latin typeface="Avenir Next LT Pro" panose="020B050402020202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3755A-B2D2-394D-B99E-E435AC1BD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Chengpeng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Wang</a:t>
            </a:r>
          </a:p>
          <a:p>
            <a:r>
              <a:rPr lang="en-US" altLang="zh-CN" dirty="0">
                <a:latin typeface="Avenir Next LT Pro" panose="020B0504020202020204" pitchFamily="34" charset="77"/>
                <a:hlinkClick r:id="rId2"/>
              </a:rPr>
              <a:t>wang6590@purdue.edu</a:t>
            </a:r>
            <a:endParaRPr lang="en-US" altLang="zh-CN" dirty="0">
              <a:latin typeface="Avenir Next LT Pro" panose="020B0504020202020204" pitchFamily="34" charset="77"/>
            </a:endParaRPr>
          </a:p>
          <a:p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11298-2A0D-C145-B5E7-99E7381F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8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446CBC-104A-CD42-8732-D3946BD7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dirty="0"/>
              <a:t>LLM-</a:t>
            </a:r>
            <a:r>
              <a:rPr lang="en-US" altLang="zh-CN" dirty="0"/>
              <a:t>driven</a:t>
            </a:r>
            <a:r>
              <a:rPr 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rogram </a:t>
            </a:r>
            <a:r>
              <a:rPr lang="en-US" altLang="zh-CN" dirty="0"/>
              <a:t>S</a:t>
            </a:r>
            <a:r>
              <a:rPr lang="en-US" dirty="0"/>
              <a:t>licing</a:t>
            </a:r>
          </a:p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  <a:p>
            <a:r>
              <a:rPr lang="en-US" dirty="0"/>
              <a:t>Grading</a:t>
            </a:r>
            <a:r>
              <a:rPr lang="zh-CN" altLang="en-US" dirty="0"/>
              <a:t> </a:t>
            </a:r>
            <a:r>
              <a:rPr lang="en-US" altLang="zh-CN" dirty="0"/>
              <a:t>Criteria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25CA0E-AC9B-9749-B163-90490996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48F2B-4661-224A-B8CC-6CC9051A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3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0AAD-AE89-CD90-DC77-CB16DC81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636F2-C3FC-96AE-01B2-304627D0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154514-2329-927C-415D-71813FD2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989F6-1B71-CFBE-0EC7-84A17147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624593-62F1-9678-5A79-49DD9B8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78D97D-5608-0CDC-B055-14F754A8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 on Program Slicing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4922BD7-CC18-EF4D-7D82-3E75CF687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742" y="2898047"/>
            <a:ext cx="287258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FCAB92-C4DC-73B3-1B20-62DC06705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106386"/>
            <a:ext cx="1066800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1EED06A-C13D-5D45-1AB9-41B40B1F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085" y="3725800"/>
            <a:ext cx="287258" cy="338554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6318AB3-3368-5D67-A107-DE157EE50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15" y="4940405"/>
            <a:ext cx="287258" cy="338554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buClrTx/>
              <a:buFontTx/>
              <a:buChar char="–"/>
            </a:pPr>
            <a:endParaRPr lang="zh-CN" altLang="en-US" sz="1600">
              <a:latin typeface="Lucida Sans" panose="020B0602030504020204" pitchFamily="34" charset="77"/>
              <a:ea typeface="宋体" panose="02010600030101010101" pitchFamily="2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1A130A4-6FA0-9D8C-A567-FCF32AF95263}"/>
              </a:ext>
            </a:extLst>
          </p:cNvPr>
          <p:cNvSpPr txBox="1">
            <a:spLocks noChangeArrowheads="1"/>
          </p:cNvSpPr>
          <p:nvPr/>
        </p:nvSpPr>
        <p:spPr>
          <a:xfrm>
            <a:off x="6400802" y="2329543"/>
            <a:ext cx="3962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S: …. = f (v)</a:t>
            </a:r>
          </a:p>
          <a:p>
            <a:r>
              <a:rPr lang="en-US" altLang="zh-CN" sz="2100" dirty="0">
                <a:solidFill>
                  <a:schemeClr val="accent1"/>
                </a:solidFill>
                <a:latin typeface="Avenir Next LT Pro" panose="020B0504020202020204" pitchFamily="34" charset="77"/>
                <a:ea typeface="宋体" panose="02010600030101010101" pitchFamily="2" charset="-122"/>
              </a:rPr>
              <a:t>Slice</a:t>
            </a: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 of v at S  is  the set of statements  involved in computing v’s value at S.</a:t>
            </a:r>
          </a:p>
          <a:p>
            <a:pPr>
              <a:buFontTx/>
              <a:buNone/>
            </a:pPr>
            <a:r>
              <a:rPr lang="en-US" altLang="zh-CN" sz="21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[Mark Weiser, 1982]</a:t>
            </a: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C9F92454-704D-2814-D9B4-DFC9A954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63487"/>
            <a:ext cx="1066800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1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2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3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4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5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6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7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8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latin typeface="Lucida Sans" panose="020B0602030504020204" pitchFamily="34" charset="77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21A83951-681A-5A78-DC15-E028FE9C7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63486"/>
            <a:ext cx="3733800" cy="358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void main ( 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int I=0;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int sum=0;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while (I&lt;N)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sum=add(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sum,I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I=add(I,1);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(“sum=%d\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n”,sum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(“I=%d\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n”,I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16585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CEFF3-FEA7-8FA0-109A-6EE0ADCF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4116D1-BFEE-5874-DA72-D0002E8C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Data/Control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  <a:endParaRPr lang="en-US" b="1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FD3BC5A-C6D4-0AFD-AE1E-21BCD69D6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86" y="1348105"/>
            <a:ext cx="3934972" cy="4584700"/>
          </a:xfrm>
          <a:prstGeom prst="rect">
            <a:avLst/>
          </a:prstGeom>
        </p:spPr>
      </p:pic>
      <p:sp>
        <p:nvSpPr>
          <p:cNvPr id="65" name="Rectangle 11">
            <a:extLst>
              <a:ext uri="{FF2B5EF4-FFF2-40B4-BE49-F238E27FC236}">
                <a16:creationId xmlns:a16="http://schemas.microsoft.com/office/drawing/2014/main" id="{9701F78A-1653-54B4-733A-BE979AE59B82}"/>
              </a:ext>
            </a:extLst>
          </p:cNvPr>
          <p:cNvSpPr txBox="1">
            <a:spLocks noChangeArrowheads="1"/>
          </p:cNvSpPr>
          <p:nvPr/>
        </p:nvSpPr>
        <p:spPr>
          <a:xfrm>
            <a:off x="6355777" y="1511300"/>
            <a:ext cx="3944937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Dependence Graph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Data dep.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Control dep.</a:t>
            </a:r>
          </a:p>
        </p:txBody>
      </p:sp>
      <p:sp>
        <p:nvSpPr>
          <p:cNvPr id="66" name="Rectangle 46">
            <a:extLst>
              <a:ext uri="{FF2B5EF4-FFF2-40B4-BE49-F238E27FC236}">
                <a16:creationId xmlns:a16="http://schemas.microsoft.com/office/drawing/2014/main" id="{95B24732-F7A4-122D-0679-D38459D6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314" y="3187700"/>
            <a:ext cx="44958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r>
              <a:rPr lang="en-US" altLang="zh-CN" sz="18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X is data dependent on Y if (1) there is a variable v that is defined at Y and used at X and (2) there exists a path of nonzero length from Y to X along which v is not re-defined.</a:t>
            </a:r>
          </a:p>
        </p:txBody>
      </p:sp>
    </p:spTree>
    <p:extLst>
      <p:ext uri="{BB962C8B-B14F-4D97-AF65-F5344CB8AC3E}">
        <p14:creationId xmlns:p14="http://schemas.microsoft.com/office/powerpoint/2010/main" val="184235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182A-CF7B-4991-1358-350537EEC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E6BF1-7025-BD48-AAEE-8BCF32DC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714AB1-7753-C370-5D4A-5E98C8D9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Data/Control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Dependence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989A4-429A-A96B-2C11-FD2EA7930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86" y="1485900"/>
            <a:ext cx="3720706" cy="447040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AF115D04-C202-8668-8028-5EFFBDF05D0B}"/>
              </a:ext>
            </a:extLst>
          </p:cNvPr>
          <p:cNvSpPr txBox="1">
            <a:spLocks noChangeArrowheads="1"/>
          </p:cNvSpPr>
          <p:nvPr/>
        </p:nvSpPr>
        <p:spPr>
          <a:xfrm>
            <a:off x="6406577" y="1485900"/>
            <a:ext cx="3944937" cy="1524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Dependence Graph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Data dep.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Avenir Next LT Pro" panose="020B0504020202020204" pitchFamily="34" charset="77"/>
                <a:ea typeface="宋体" panose="02010600030101010101" pitchFamily="2" charset="-122"/>
              </a:rPr>
              <a:t>Control dep.</a:t>
            </a: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C0A638EB-EC79-6C6E-4332-A8F7FEEE7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563" y="3239544"/>
            <a:ext cx="4436495" cy="2362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165" tIns="45583" rIns="91165" bIns="45583"/>
          <a:lstStyle>
            <a:lvl1pPr marL="444500" indent="-444500" defTabSz="903288"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33425" indent="-369888" defTabSz="903288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903288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903288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903288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903288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Y is control-dependent on X </a:t>
            </a:r>
            <a:r>
              <a:rPr lang="en-US" altLang="zh-CN" b="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iff</a:t>
            </a:r>
            <a:r>
              <a:rPr lang="en-US" altLang="zh-CN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 X directly determines whether Y executes</a:t>
            </a:r>
          </a:p>
          <a:p>
            <a:pPr lvl="1">
              <a:lnSpc>
                <a:spcPct val="80000"/>
              </a:lnSpc>
            </a:pP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X is not strictly post-dominated by Y</a:t>
            </a:r>
          </a:p>
          <a:p>
            <a:pPr lvl="1">
              <a:lnSpc>
                <a:spcPct val="80000"/>
              </a:lnSpc>
            </a:pP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there exists a path from X to Y </a:t>
            </a:r>
            <a:r>
              <a:rPr lang="en-US" altLang="zh-CN" sz="1600" b="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s.t.</a:t>
            </a:r>
            <a:r>
              <a:rPr lang="en-US" altLang="zh-CN" sz="1600" b="0" dirty="0">
                <a:latin typeface="Avenir Next LT Pro" panose="020B0504020202020204" pitchFamily="34" charset="77"/>
                <a:ea typeface="宋体" panose="02010600030101010101" pitchFamily="2" charset="-122"/>
              </a:rPr>
              <a:t> every node in the path other than X and Y is post-dominated by Y</a:t>
            </a:r>
          </a:p>
          <a:p>
            <a:pPr lvl="1">
              <a:lnSpc>
                <a:spcPct val="80000"/>
              </a:lnSpc>
            </a:pPr>
            <a:endParaRPr lang="en-US" altLang="zh-CN" sz="1600" b="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7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9B15D-F6C7-EC73-4641-801D7D1B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E7CABD-68BE-61A4-D71D-C92EAE93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Slices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C1225-FAFB-9DEA-B688-BCE3A152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80" y="1397999"/>
            <a:ext cx="3637590" cy="440482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1A8FD01-E1DF-5C6C-B63F-42D5F010D8E9}"/>
              </a:ext>
            </a:extLst>
          </p:cNvPr>
          <p:cNvSpPr txBox="1">
            <a:spLocks noChangeArrowheads="1"/>
          </p:cNvSpPr>
          <p:nvPr/>
        </p:nvSpPr>
        <p:spPr>
          <a:xfrm>
            <a:off x="6291943" y="1186543"/>
            <a:ext cx="4402138" cy="281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zh-CN" sz="25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r>
              <a:rPr lang="en-US" altLang="zh-CN" sz="2500" dirty="0">
                <a:latin typeface="Avenir Next LT Pro" panose="020B0504020202020204" pitchFamily="34" charset="77"/>
                <a:ea typeface="宋体" panose="02010600030101010101" pitchFamily="2" charset="-122"/>
              </a:rPr>
              <a:t>Given a slicing criterion, i.e., the starting point, a slice is computed as the set of reachable nodes in the dependence graph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07DD5381-B0EA-BB77-D68C-7E2772EB6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312" y="4374243"/>
            <a:ext cx="2819400" cy="33066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Slice(I@7)=?</a:t>
            </a:r>
          </a:p>
        </p:txBody>
      </p:sp>
      <p:sp>
        <p:nvSpPr>
          <p:cNvPr id="9" name="Text Box 38">
            <a:extLst>
              <a:ext uri="{FF2B5EF4-FFF2-40B4-BE49-F238E27FC236}">
                <a16:creationId xmlns:a16="http://schemas.microsoft.com/office/drawing/2014/main" id="{C698836E-C5A0-B6C1-7DB3-9AE1F43D4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312" y="4374243"/>
            <a:ext cx="2819400" cy="323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3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Slice(I@7)={1,3,5,7}</a:t>
            </a:r>
          </a:p>
        </p:txBody>
      </p:sp>
    </p:spTree>
    <p:extLst>
      <p:ext uri="{BB962C8B-B14F-4D97-AF65-F5344CB8AC3E}">
        <p14:creationId xmlns:p14="http://schemas.microsoft.com/office/powerpoint/2010/main" val="388150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7AA4-518F-E87D-C1CC-8A47BA95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B4FBAB-0EA6-47B2-7DB6-206A8F7A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/>
              <a:t>LLM-</a:t>
            </a:r>
            <a:r>
              <a:rPr lang="en-US" altLang="zh-CN" dirty="0"/>
              <a:t>driven</a:t>
            </a:r>
            <a:r>
              <a:rPr 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rogram </a:t>
            </a:r>
            <a:r>
              <a:rPr lang="en-US" altLang="zh-CN" dirty="0"/>
              <a:t>S</a:t>
            </a:r>
            <a:r>
              <a:rPr lang="en-US" dirty="0"/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7F06D8-1566-E8E1-1554-6A9957C7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6A77A-6F0D-CC3E-4C5E-9D0A616D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5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FB8B-9853-B2AC-9BBD-0E344828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C23B82-3513-AD20-BB28-01DFD2B6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rid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compilation</a:t>
            </a:r>
          </a:p>
          <a:p>
            <a:r>
              <a:rPr lang="en-US" altLang="zh-CN" dirty="0"/>
              <a:t>Easy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migrate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6071D-83B5-9D7B-766C-A27694D5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E2BD-6B6B-5F45-0E2B-5BA20DD8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DA16-9383-66F0-F1CA-E87FFA6D8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01" y="2742883"/>
            <a:ext cx="4478816" cy="1395573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6389D1B9-755E-295E-5557-36468509129F}"/>
              </a:ext>
            </a:extLst>
          </p:cNvPr>
          <p:cNvSpPr/>
          <p:nvPr/>
        </p:nvSpPr>
        <p:spPr>
          <a:xfrm>
            <a:off x="5486120" y="3335782"/>
            <a:ext cx="764856" cy="181611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2B72B-8F05-ED11-A1F9-F9EAD8A0F6D7}"/>
              </a:ext>
            </a:extLst>
          </p:cNvPr>
          <p:cNvSpPr txBox="1"/>
          <p:nvPr/>
        </p:nvSpPr>
        <p:spPr>
          <a:xfrm>
            <a:off x="7956626" y="4106500"/>
            <a:ext cx="176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LLM-driven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Program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Slicer</a:t>
            </a:r>
            <a:endParaRPr lang="en-US" dirty="0">
              <a:latin typeface="Avenir Next LT Pro" panose="020B0504020202020204" pitchFamily="34" charset="7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09D44-6284-76E2-B326-D07819D371C8}"/>
              </a:ext>
            </a:extLst>
          </p:cNvPr>
          <p:cNvSpPr txBox="1"/>
          <p:nvPr/>
        </p:nvSpPr>
        <p:spPr>
          <a:xfrm>
            <a:off x="1813381" y="4111206"/>
            <a:ext cx="209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Existing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Static</a:t>
            </a:r>
          </a:p>
          <a:p>
            <a:pPr algn="ctr"/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Program</a:t>
            </a:r>
            <a:r>
              <a:rPr lang="zh-CN" altLang="en-US" dirty="0">
                <a:latin typeface="Avenir Next LT Pro" panose="020B0504020202020204" pitchFamily="34" charset="77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  <a:cs typeface="Arial" panose="020B0604020202020204" pitchFamily="34" charset="0"/>
              </a:rPr>
              <a:t>Slicer</a:t>
            </a:r>
            <a:endParaRPr lang="en-US" dirty="0">
              <a:latin typeface="Avenir Next LT Pro" panose="020B0504020202020204" pitchFamily="34" charset="77"/>
              <a:cs typeface="Arial" panose="020B0604020202020204" pitchFamily="34" charset="0"/>
            </a:endParaRPr>
          </a:p>
        </p:txBody>
      </p:sp>
      <p:grpSp>
        <p:nvGrpSpPr>
          <p:cNvPr id="11" name="Graphic 7">
            <a:extLst>
              <a:ext uri="{FF2B5EF4-FFF2-40B4-BE49-F238E27FC236}">
                <a16:creationId xmlns:a16="http://schemas.microsoft.com/office/drawing/2014/main" id="{50B9E69C-FD2B-05AE-DCAE-B36D4EAF47A7}"/>
              </a:ext>
            </a:extLst>
          </p:cNvPr>
          <p:cNvGrpSpPr/>
          <p:nvPr/>
        </p:nvGrpSpPr>
        <p:grpSpPr>
          <a:xfrm>
            <a:off x="950143" y="2814439"/>
            <a:ext cx="4363595" cy="1229120"/>
            <a:chOff x="1061821" y="2517865"/>
            <a:chExt cx="4363595" cy="12291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23F5F1-C4E3-35DD-1AE6-9532B4CB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7848" y="2517865"/>
              <a:ext cx="389521" cy="375154"/>
            </a:xfrm>
            <a:custGeom>
              <a:avLst/>
              <a:gdLst>
                <a:gd name="connsiteX0" fmla="*/ 25 w 389521"/>
                <a:gd name="connsiteY0" fmla="*/ -2 h 375154"/>
                <a:gd name="connsiteX1" fmla="*/ 389547 w 389521"/>
                <a:gd name="connsiteY1" fmla="*/ -2 h 375154"/>
                <a:gd name="connsiteX2" fmla="*/ 389547 w 389521"/>
                <a:gd name="connsiteY2" fmla="*/ 375152 h 375154"/>
                <a:gd name="connsiteX3" fmla="*/ 25 w 389521"/>
                <a:gd name="connsiteY3" fmla="*/ 375152 h 37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21" h="375154">
                  <a:moveTo>
                    <a:pt x="25" y="-2"/>
                  </a:moveTo>
                  <a:lnTo>
                    <a:pt x="389547" y="-2"/>
                  </a:lnTo>
                  <a:lnTo>
                    <a:pt x="389547" y="375152"/>
                  </a:lnTo>
                  <a:lnTo>
                    <a:pt x="25" y="375152"/>
                  </a:lnTo>
                  <a:close/>
                </a:path>
              </a:pathLst>
            </a:cu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682333-CED9-E28D-EFB8-0F88BEAA4E08}"/>
                </a:ext>
              </a:extLst>
            </p:cNvPr>
            <p:cNvSpPr txBox="1"/>
            <p:nvPr/>
          </p:nvSpPr>
          <p:spPr>
            <a:xfrm>
              <a:off x="2282539" y="3131314"/>
              <a:ext cx="69121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Compiler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802C04-7FF0-90BC-7945-641BB7E509D4}"/>
                </a:ext>
              </a:extLst>
            </p:cNvPr>
            <p:cNvSpPr txBox="1"/>
            <p:nvPr/>
          </p:nvSpPr>
          <p:spPr>
            <a:xfrm>
              <a:off x="2293486" y="3265297"/>
              <a:ext cx="67037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Frontend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50FBF02-0ADF-DF43-C920-7D059B4D6B4E}"/>
                </a:ext>
              </a:extLst>
            </p:cNvPr>
            <p:cNvSpPr/>
            <p:nvPr/>
          </p:nvSpPr>
          <p:spPr>
            <a:xfrm>
              <a:off x="3748270" y="3274872"/>
              <a:ext cx="384015" cy="80390"/>
            </a:xfrm>
            <a:custGeom>
              <a:avLst/>
              <a:gdLst>
                <a:gd name="connsiteX0" fmla="*/ -84 w 384015"/>
                <a:gd name="connsiteY0" fmla="*/ 33344 h 80390"/>
                <a:gd name="connsiteX1" fmla="*/ 316773 w 384015"/>
                <a:gd name="connsiteY1" fmla="*/ 33344 h 80390"/>
                <a:gd name="connsiteX2" fmla="*/ 316773 w 384015"/>
                <a:gd name="connsiteY2" fmla="*/ 46742 h 80390"/>
                <a:gd name="connsiteX3" fmla="*/ -84 w 384015"/>
                <a:gd name="connsiteY3" fmla="*/ 46742 h 80390"/>
                <a:gd name="connsiteX4" fmla="*/ 303341 w 384015"/>
                <a:gd name="connsiteY4" fmla="*/ -152 h 80390"/>
                <a:gd name="connsiteX5" fmla="*/ 383932 w 384015"/>
                <a:gd name="connsiteY5" fmla="*/ 40043 h 80390"/>
                <a:gd name="connsiteX6" fmla="*/ 303341 w 384015"/>
                <a:gd name="connsiteY6" fmla="*/ 80238 h 8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015" h="80390">
                  <a:moveTo>
                    <a:pt x="-84" y="33344"/>
                  </a:moveTo>
                  <a:lnTo>
                    <a:pt x="316773" y="33344"/>
                  </a:lnTo>
                  <a:lnTo>
                    <a:pt x="316773" y="46742"/>
                  </a:lnTo>
                  <a:lnTo>
                    <a:pt x="-84" y="46742"/>
                  </a:lnTo>
                  <a:close/>
                  <a:moveTo>
                    <a:pt x="303341" y="-152"/>
                  </a:moveTo>
                  <a:lnTo>
                    <a:pt x="383932" y="40043"/>
                  </a:lnTo>
                  <a:lnTo>
                    <a:pt x="303341" y="80238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B15928-E74E-292A-AA95-9821913BC85E}"/>
                </a:ext>
              </a:extLst>
            </p:cNvPr>
            <p:cNvSpPr txBox="1"/>
            <p:nvPr/>
          </p:nvSpPr>
          <p:spPr>
            <a:xfrm>
              <a:off x="3430141" y="3359086"/>
              <a:ext cx="319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IR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1BBA174-67A7-F419-B93F-4A6AA681C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5759" y="3080596"/>
              <a:ext cx="362660" cy="348359"/>
            </a:xfrm>
            <a:custGeom>
              <a:avLst/>
              <a:gdLst>
                <a:gd name="connsiteX0" fmla="*/ 173 w 362660"/>
                <a:gd name="connsiteY0" fmla="*/ 39 h 348359"/>
                <a:gd name="connsiteX1" fmla="*/ 362833 w 362660"/>
                <a:gd name="connsiteY1" fmla="*/ 39 h 348359"/>
                <a:gd name="connsiteX2" fmla="*/ 362833 w 362660"/>
                <a:gd name="connsiteY2" fmla="*/ 348398 h 348359"/>
                <a:gd name="connsiteX3" fmla="*/ 173 w 362660"/>
                <a:gd name="connsiteY3" fmla="*/ 348398 h 348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60" h="348359">
                  <a:moveTo>
                    <a:pt x="173" y="39"/>
                  </a:moveTo>
                  <a:lnTo>
                    <a:pt x="362833" y="39"/>
                  </a:lnTo>
                  <a:lnTo>
                    <a:pt x="362833" y="348398"/>
                  </a:lnTo>
                  <a:lnTo>
                    <a:pt x="173" y="348398"/>
                  </a:lnTo>
                  <a:close/>
                </a:path>
              </a:pathLst>
            </a:cu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601DB34-287A-D642-89A5-38E7B3D3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1077" y="2584856"/>
              <a:ext cx="362658" cy="361755"/>
            </a:xfrm>
            <a:custGeom>
              <a:avLst/>
              <a:gdLst>
                <a:gd name="connsiteX0" fmla="*/ 226 w 362658"/>
                <a:gd name="connsiteY0" fmla="*/ 2 h 361755"/>
                <a:gd name="connsiteX1" fmla="*/ 362885 w 362658"/>
                <a:gd name="connsiteY1" fmla="*/ 2 h 361755"/>
                <a:gd name="connsiteX2" fmla="*/ 362885 w 362658"/>
                <a:gd name="connsiteY2" fmla="*/ 361758 h 361755"/>
                <a:gd name="connsiteX3" fmla="*/ 226 w 362658"/>
                <a:gd name="connsiteY3" fmla="*/ 361758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226" y="2"/>
                  </a:moveTo>
                  <a:lnTo>
                    <a:pt x="362885" y="2"/>
                  </a:lnTo>
                  <a:lnTo>
                    <a:pt x="362885" y="361758"/>
                  </a:lnTo>
                  <a:lnTo>
                    <a:pt x="226" y="361758"/>
                  </a:lnTo>
                  <a:close/>
                </a:path>
              </a:pathLst>
            </a:custGeom>
          </p:spPr>
        </p:pic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5B23BDA-8DC4-9F9C-2578-0E2023C883BA}"/>
                </a:ext>
              </a:extLst>
            </p:cNvPr>
            <p:cNvSpPr/>
            <p:nvPr/>
          </p:nvSpPr>
          <p:spPr>
            <a:xfrm>
              <a:off x="1826216" y="2685947"/>
              <a:ext cx="572155" cy="286805"/>
            </a:xfrm>
            <a:custGeom>
              <a:avLst/>
              <a:gdLst>
                <a:gd name="connsiteX0" fmla="*/ 15954 w 572155"/>
                <a:gd name="connsiteY0" fmla="*/ -152 h 286805"/>
                <a:gd name="connsiteX1" fmla="*/ 62226 w 572155"/>
                <a:gd name="connsiteY1" fmla="*/ 60435 h 286805"/>
                <a:gd name="connsiteX2" fmla="*/ 61823 w 572155"/>
                <a:gd name="connsiteY2" fmla="*/ 59953 h 286805"/>
                <a:gd name="connsiteX3" fmla="*/ 111199 w 572155"/>
                <a:gd name="connsiteY3" fmla="*/ 116856 h 286805"/>
                <a:gd name="connsiteX4" fmla="*/ 110299 w 572155"/>
                <a:gd name="connsiteY4" fmla="*/ 115945 h 286805"/>
                <a:gd name="connsiteX5" fmla="*/ 165853 w 572155"/>
                <a:gd name="connsiteY5" fmla="*/ 165519 h 286805"/>
                <a:gd name="connsiteX6" fmla="*/ 164295 w 572155"/>
                <a:gd name="connsiteY6" fmla="*/ 164367 h 286805"/>
                <a:gd name="connsiteX7" fmla="*/ 229144 w 572155"/>
                <a:gd name="connsiteY7" fmla="*/ 202927 h 286805"/>
                <a:gd name="connsiteX8" fmla="*/ 227250 w 572155"/>
                <a:gd name="connsiteY8" fmla="*/ 202043 h 286805"/>
                <a:gd name="connsiteX9" fmla="*/ 266578 w 572155"/>
                <a:gd name="connsiteY9" fmla="*/ 215468 h 286805"/>
                <a:gd name="connsiteX10" fmla="*/ 265289 w 572155"/>
                <a:gd name="connsiteY10" fmla="*/ 215119 h 286805"/>
                <a:gd name="connsiteX11" fmla="*/ 311024 w 572155"/>
                <a:gd name="connsiteY11" fmla="*/ 224271 h 286805"/>
                <a:gd name="connsiteX12" fmla="*/ 310030 w 572155"/>
                <a:gd name="connsiteY12" fmla="*/ 224123 h 286805"/>
                <a:gd name="connsiteX13" fmla="*/ 410272 w 572155"/>
                <a:gd name="connsiteY13" fmla="*/ 233984 h 286805"/>
                <a:gd name="connsiteX14" fmla="*/ 409869 w 572155"/>
                <a:gd name="connsiteY14" fmla="*/ 233958 h 286805"/>
                <a:gd name="connsiteX15" fmla="*/ 459217 w 572155"/>
                <a:gd name="connsiteY15" fmla="*/ 236865 h 286805"/>
                <a:gd name="connsiteX16" fmla="*/ 504778 w 572155"/>
                <a:gd name="connsiteY16" fmla="*/ 239866 h 286805"/>
                <a:gd name="connsiteX17" fmla="*/ 520184 w 572155"/>
                <a:gd name="connsiteY17" fmla="*/ 241528 h 286805"/>
                <a:gd name="connsiteX18" fmla="*/ 518022 w 572155"/>
                <a:gd name="connsiteY18" fmla="*/ 261518 h 286805"/>
                <a:gd name="connsiteX19" fmla="*/ 502817 w 572155"/>
                <a:gd name="connsiteY19" fmla="*/ 259870 h 286805"/>
                <a:gd name="connsiteX20" fmla="*/ 503234 w 572155"/>
                <a:gd name="connsiteY20" fmla="*/ 259910 h 286805"/>
                <a:gd name="connsiteX21" fmla="*/ 457928 w 572155"/>
                <a:gd name="connsiteY21" fmla="*/ 256909 h 286805"/>
                <a:gd name="connsiteX22" fmla="*/ 458008 w 572155"/>
                <a:gd name="connsiteY22" fmla="*/ 256922 h 286805"/>
                <a:gd name="connsiteX23" fmla="*/ 408485 w 572155"/>
                <a:gd name="connsiteY23" fmla="*/ 254015 h 286805"/>
                <a:gd name="connsiteX24" fmla="*/ 307545 w 572155"/>
                <a:gd name="connsiteY24" fmla="*/ 244073 h 286805"/>
                <a:gd name="connsiteX25" fmla="*/ 260682 w 572155"/>
                <a:gd name="connsiteY25" fmla="*/ 234694 h 286805"/>
                <a:gd name="connsiteX26" fmla="*/ 219728 w 572155"/>
                <a:gd name="connsiteY26" fmla="*/ 220720 h 286805"/>
                <a:gd name="connsiteX27" fmla="*/ 153146 w 572155"/>
                <a:gd name="connsiteY27" fmla="*/ 181141 h 286805"/>
                <a:gd name="connsiteX28" fmla="*/ 96383 w 572155"/>
                <a:gd name="connsiteY28" fmla="*/ 130495 h 286805"/>
                <a:gd name="connsiteX29" fmla="*/ 46390 w 572155"/>
                <a:gd name="connsiteY29" fmla="*/ 72869 h 286805"/>
                <a:gd name="connsiteX30" fmla="*/ -84 w 572155"/>
                <a:gd name="connsiteY30" fmla="*/ 12041 h 286805"/>
                <a:gd name="connsiteX31" fmla="*/ 519110 w 572155"/>
                <a:gd name="connsiteY31" fmla="*/ 251523 h 286805"/>
                <a:gd name="connsiteX32" fmla="*/ 499379 w 572155"/>
                <a:gd name="connsiteY32" fmla="*/ 207402 h 286805"/>
                <a:gd name="connsiteX33" fmla="*/ 572072 w 572155"/>
                <a:gd name="connsiteY33" fmla="*/ 260513 h 286805"/>
                <a:gd name="connsiteX34" fmla="*/ 485866 w 572155"/>
                <a:gd name="connsiteY34" fmla="*/ 286653 h 286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72155" h="286805">
                  <a:moveTo>
                    <a:pt x="15954" y="-152"/>
                  </a:moveTo>
                  <a:lnTo>
                    <a:pt x="62226" y="60435"/>
                  </a:lnTo>
                  <a:lnTo>
                    <a:pt x="61823" y="59953"/>
                  </a:lnTo>
                  <a:lnTo>
                    <a:pt x="111199" y="116856"/>
                  </a:lnTo>
                  <a:lnTo>
                    <a:pt x="110299" y="115945"/>
                  </a:lnTo>
                  <a:lnTo>
                    <a:pt x="165853" y="165519"/>
                  </a:lnTo>
                  <a:lnTo>
                    <a:pt x="164295" y="164367"/>
                  </a:lnTo>
                  <a:lnTo>
                    <a:pt x="229144" y="202927"/>
                  </a:lnTo>
                  <a:lnTo>
                    <a:pt x="227250" y="202043"/>
                  </a:lnTo>
                  <a:lnTo>
                    <a:pt x="266578" y="215468"/>
                  </a:lnTo>
                  <a:lnTo>
                    <a:pt x="265289" y="215119"/>
                  </a:lnTo>
                  <a:lnTo>
                    <a:pt x="311024" y="224271"/>
                  </a:lnTo>
                  <a:lnTo>
                    <a:pt x="310030" y="224123"/>
                  </a:lnTo>
                  <a:lnTo>
                    <a:pt x="410272" y="233984"/>
                  </a:lnTo>
                  <a:lnTo>
                    <a:pt x="409869" y="233958"/>
                  </a:lnTo>
                  <a:lnTo>
                    <a:pt x="459217" y="236865"/>
                  </a:lnTo>
                  <a:lnTo>
                    <a:pt x="504778" y="239866"/>
                  </a:lnTo>
                  <a:lnTo>
                    <a:pt x="520184" y="241528"/>
                  </a:lnTo>
                  <a:lnTo>
                    <a:pt x="518022" y="261518"/>
                  </a:lnTo>
                  <a:lnTo>
                    <a:pt x="502817" y="259870"/>
                  </a:lnTo>
                  <a:lnTo>
                    <a:pt x="503234" y="259910"/>
                  </a:lnTo>
                  <a:lnTo>
                    <a:pt x="457928" y="256909"/>
                  </a:lnTo>
                  <a:lnTo>
                    <a:pt x="458008" y="256922"/>
                  </a:lnTo>
                  <a:lnTo>
                    <a:pt x="408485" y="254015"/>
                  </a:lnTo>
                  <a:lnTo>
                    <a:pt x="307545" y="244073"/>
                  </a:lnTo>
                  <a:lnTo>
                    <a:pt x="260682" y="234694"/>
                  </a:lnTo>
                  <a:lnTo>
                    <a:pt x="219728" y="220720"/>
                  </a:lnTo>
                  <a:lnTo>
                    <a:pt x="153146" y="181141"/>
                  </a:lnTo>
                  <a:lnTo>
                    <a:pt x="96383" y="130495"/>
                  </a:lnTo>
                  <a:lnTo>
                    <a:pt x="46390" y="72869"/>
                  </a:lnTo>
                  <a:lnTo>
                    <a:pt x="-84" y="12041"/>
                  </a:lnTo>
                  <a:close/>
                  <a:moveTo>
                    <a:pt x="519110" y="251523"/>
                  </a:moveTo>
                  <a:lnTo>
                    <a:pt x="499379" y="207402"/>
                  </a:lnTo>
                  <a:lnTo>
                    <a:pt x="572072" y="260513"/>
                  </a:lnTo>
                  <a:lnTo>
                    <a:pt x="485866" y="286653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82FCC65-FAB4-4E55-24FA-22BE769BB9E0}"/>
                </a:ext>
              </a:extLst>
            </p:cNvPr>
            <p:cNvSpPr/>
            <p:nvPr/>
          </p:nvSpPr>
          <p:spPr>
            <a:xfrm flipV="1">
              <a:off x="1848898" y="3021951"/>
              <a:ext cx="556189" cy="296981"/>
            </a:xfrm>
            <a:custGeom>
              <a:avLst/>
              <a:gdLst>
                <a:gd name="connsiteX0" fmla="*/ 11029 w 556189"/>
                <a:gd name="connsiteY0" fmla="*/ 38 h 296981"/>
                <a:gd name="connsiteX1" fmla="*/ 56204 w 556189"/>
                <a:gd name="connsiteY1" fmla="*/ 63809 h 296981"/>
                <a:gd name="connsiteX2" fmla="*/ 55957 w 556189"/>
                <a:gd name="connsiteY2" fmla="*/ 63482 h 296981"/>
                <a:gd name="connsiteX3" fmla="*/ 104153 w 556189"/>
                <a:gd name="connsiteY3" fmla="*/ 123388 h 296981"/>
                <a:gd name="connsiteX4" fmla="*/ 103577 w 556189"/>
                <a:gd name="connsiteY4" fmla="*/ 122759 h 296981"/>
                <a:gd name="connsiteX5" fmla="*/ 157814 w 556189"/>
                <a:gd name="connsiteY5" fmla="*/ 174935 h 296981"/>
                <a:gd name="connsiteX6" fmla="*/ 156784 w 556189"/>
                <a:gd name="connsiteY6" fmla="*/ 174122 h 296981"/>
                <a:gd name="connsiteX7" fmla="*/ 220083 w 556189"/>
                <a:gd name="connsiteY7" fmla="*/ 214703 h 296981"/>
                <a:gd name="connsiteX8" fmla="*/ 218776 w 556189"/>
                <a:gd name="connsiteY8" fmla="*/ 214053 h 296981"/>
                <a:gd name="connsiteX9" fmla="*/ 257165 w 556189"/>
                <a:gd name="connsiteY9" fmla="*/ 228174 h 296981"/>
                <a:gd name="connsiteX10" fmla="*/ 256261 w 556189"/>
                <a:gd name="connsiteY10" fmla="*/ 227912 h 296981"/>
                <a:gd name="connsiteX11" fmla="*/ 300898 w 556189"/>
                <a:gd name="connsiteY11" fmla="*/ 237545 h 296981"/>
                <a:gd name="connsiteX12" fmla="*/ 300189 w 556189"/>
                <a:gd name="connsiteY12" fmla="*/ 237431 h 296981"/>
                <a:gd name="connsiteX13" fmla="*/ 398045 w 556189"/>
                <a:gd name="connsiteY13" fmla="*/ 247817 h 296981"/>
                <a:gd name="connsiteX14" fmla="*/ 397760 w 556189"/>
                <a:gd name="connsiteY14" fmla="*/ 247793 h 296981"/>
                <a:gd name="connsiteX15" fmla="*/ 445926 w 556189"/>
                <a:gd name="connsiteY15" fmla="*/ 250845 h 296981"/>
                <a:gd name="connsiteX16" fmla="*/ 490329 w 556189"/>
                <a:gd name="connsiteY16" fmla="*/ 254007 h 296981"/>
                <a:gd name="connsiteX17" fmla="*/ 504169 w 556189"/>
                <a:gd name="connsiteY17" fmla="*/ 255619 h 296981"/>
                <a:gd name="connsiteX18" fmla="*/ 502612 w 556189"/>
                <a:gd name="connsiteY18" fmla="*/ 268927 h 296981"/>
                <a:gd name="connsiteX19" fmla="*/ 488921 w 556189"/>
                <a:gd name="connsiteY19" fmla="*/ 267333 h 296981"/>
                <a:gd name="connsiteX20" fmla="*/ 489220 w 556189"/>
                <a:gd name="connsiteY20" fmla="*/ 267361 h 296981"/>
                <a:gd name="connsiteX21" fmla="*/ 444995 w 556189"/>
                <a:gd name="connsiteY21" fmla="*/ 264211 h 296981"/>
                <a:gd name="connsiteX22" fmla="*/ 445048 w 556189"/>
                <a:gd name="connsiteY22" fmla="*/ 264214 h 296981"/>
                <a:gd name="connsiteX23" fmla="*/ 396766 w 556189"/>
                <a:gd name="connsiteY23" fmla="*/ 261155 h 296981"/>
                <a:gd name="connsiteX24" fmla="*/ 298411 w 556189"/>
                <a:gd name="connsiteY24" fmla="*/ 250715 h 296981"/>
                <a:gd name="connsiteX25" fmla="*/ 252960 w 556189"/>
                <a:gd name="connsiteY25" fmla="*/ 240907 h 296981"/>
                <a:gd name="connsiteX26" fmla="*/ 213439 w 556189"/>
                <a:gd name="connsiteY26" fmla="*/ 226370 h 296981"/>
                <a:gd name="connsiteX27" fmla="*/ 148965 w 556189"/>
                <a:gd name="connsiteY27" fmla="*/ 185036 h 296981"/>
                <a:gd name="connsiteX28" fmla="*/ 93945 w 556189"/>
                <a:gd name="connsiteY28" fmla="*/ 132107 h 296981"/>
                <a:gd name="connsiteX29" fmla="*/ 45353 w 556189"/>
                <a:gd name="connsiteY29" fmla="*/ 71708 h 296981"/>
                <a:gd name="connsiteX30" fmla="*/ 60 w 556189"/>
                <a:gd name="connsiteY30" fmla="*/ 7770 h 296981"/>
                <a:gd name="connsiteX31" fmla="*/ 503391 w 556189"/>
                <a:gd name="connsiteY31" fmla="*/ 262274 h 296981"/>
                <a:gd name="connsiteX32" fmla="*/ 484178 w 556189"/>
                <a:gd name="connsiteY32" fmla="*/ 217929 h 296981"/>
                <a:gd name="connsiteX33" fmla="*/ 556249 w 556189"/>
                <a:gd name="connsiteY33" fmla="*/ 271871 h 296981"/>
                <a:gd name="connsiteX34" fmla="*/ 469744 w 556189"/>
                <a:gd name="connsiteY34" fmla="*/ 297020 h 29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6189" h="296981">
                  <a:moveTo>
                    <a:pt x="11029" y="38"/>
                  </a:moveTo>
                  <a:lnTo>
                    <a:pt x="56204" y="63809"/>
                  </a:lnTo>
                  <a:lnTo>
                    <a:pt x="55957" y="63482"/>
                  </a:lnTo>
                  <a:lnTo>
                    <a:pt x="104153" y="123388"/>
                  </a:lnTo>
                  <a:lnTo>
                    <a:pt x="103577" y="122759"/>
                  </a:lnTo>
                  <a:lnTo>
                    <a:pt x="157814" y="174935"/>
                  </a:lnTo>
                  <a:lnTo>
                    <a:pt x="156784" y="174122"/>
                  </a:lnTo>
                  <a:lnTo>
                    <a:pt x="220083" y="214703"/>
                  </a:lnTo>
                  <a:lnTo>
                    <a:pt x="218776" y="214053"/>
                  </a:lnTo>
                  <a:lnTo>
                    <a:pt x="257165" y="228174"/>
                  </a:lnTo>
                  <a:lnTo>
                    <a:pt x="256261" y="227912"/>
                  </a:lnTo>
                  <a:lnTo>
                    <a:pt x="300898" y="237545"/>
                  </a:lnTo>
                  <a:lnTo>
                    <a:pt x="300189" y="237431"/>
                  </a:lnTo>
                  <a:lnTo>
                    <a:pt x="398045" y="247817"/>
                  </a:lnTo>
                  <a:lnTo>
                    <a:pt x="397760" y="247793"/>
                  </a:lnTo>
                  <a:lnTo>
                    <a:pt x="445926" y="250845"/>
                  </a:lnTo>
                  <a:lnTo>
                    <a:pt x="490329" y="254007"/>
                  </a:lnTo>
                  <a:lnTo>
                    <a:pt x="504169" y="255619"/>
                  </a:lnTo>
                  <a:lnTo>
                    <a:pt x="502612" y="268927"/>
                  </a:lnTo>
                  <a:lnTo>
                    <a:pt x="488921" y="267333"/>
                  </a:lnTo>
                  <a:lnTo>
                    <a:pt x="489220" y="267361"/>
                  </a:lnTo>
                  <a:lnTo>
                    <a:pt x="444995" y="264211"/>
                  </a:lnTo>
                  <a:lnTo>
                    <a:pt x="445048" y="264214"/>
                  </a:lnTo>
                  <a:lnTo>
                    <a:pt x="396766" y="261155"/>
                  </a:lnTo>
                  <a:lnTo>
                    <a:pt x="298411" y="250715"/>
                  </a:lnTo>
                  <a:lnTo>
                    <a:pt x="252960" y="240907"/>
                  </a:lnTo>
                  <a:lnTo>
                    <a:pt x="213439" y="226370"/>
                  </a:lnTo>
                  <a:lnTo>
                    <a:pt x="148965" y="185036"/>
                  </a:lnTo>
                  <a:lnTo>
                    <a:pt x="93945" y="132107"/>
                  </a:lnTo>
                  <a:lnTo>
                    <a:pt x="45353" y="71708"/>
                  </a:lnTo>
                  <a:lnTo>
                    <a:pt x="60" y="7770"/>
                  </a:lnTo>
                  <a:close/>
                  <a:moveTo>
                    <a:pt x="503391" y="262274"/>
                  </a:moveTo>
                  <a:lnTo>
                    <a:pt x="484178" y="217929"/>
                  </a:lnTo>
                  <a:lnTo>
                    <a:pt x="556249" y="271871"/>
                  </a:lnTo>
                  <a:lnTo>
                    <a:pt x="469744" y="297020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5AEA645-E193-EC63-2F66-956256F2E301}"/>
                </a:ext>
              </a:extLst>
            </p:cNvPr>
            <p:cNvSpPr/>
            <p:nvPr/>
          </p:nvSpPr>
          <p:spPr>
            <a:xfrm>
              <a:off x="2854892" y="2745637"/>
              <a:ext cx="550866" cy="211024"/>
            </a:xfrm>
            <a:custGeom>
              <a:avLst/>
              <a:gdLst>
                <a:gd name="connsiteX0" fmla="*/ 238 w 550866"/>
                <a:gd name="connsiteY0" fmla="*/ 189555 h 211024"/>
                <a:gd name="connsiteX1" fmla="*/ 77162 w 550866"/>
                <a:gd name="connsiteY1" fmla="*/ 190775 h 211024"/>
                <a:gd name="connsiteX2" fmla="*/ 76719 w 550866"/>
                <a:gd name="connsiteY2" fmla="*/ 190775 h 211024"/>
                <a:gd name="connsiteX3" fmla="*/ 152622 w 550866"/>
                <a:gd name="connsiteY3" fmla="*/ 188658 h 211024"/>
                <a:gd name="connsiteX4" fmla="*/ 151696 w 550866"/>
                <a:gd name="connsiteY4" fmla="*/ 188725 h 211024"/>
                <a:gd name="connsiteX5" fmla="*/ 225530 w 550866"/>
                <a:gd name="connsiteY5" fmla="*/ 179922 h 211024"/>
                <a:gd name="connsiteX6" fmla="*/ 224133 w 550866"/>
                <a:gd name="connsiteY6" fmla="*/ 180190 h 211024"/>
                <a:gd name="connsiteX7" fmla="*/ 294866 w 550866"/>
                <a:gd name="connsiteY7" fmla="*/ 161352 h 211024"/>
                <a:gd name="connsiteX8" fmla="*/ 293200 w 550866"/>
                <a:gd name="connsiteY8" fmla="*/ 161955 h 211024"/>
                <a:gd name="connsiteX9" fmla="*/ 360144 w 550866"/>
                <a:gd name="connsiteY9" fmla="*/ 130857 h 211024"/>
                <a:gd name="connsiteX10" fmla="*/ 358935 w 550866"/>
                <a:gd name="connsiteY10" fmla="*/ 131527 h 211024"/>
                <a:gd name="connsiteX11" fmla="*/ 422790 w 550866"/>
                <a:gd name="connsiteY11" fmla="*/ 90394 h 211024"/>
                <a:gd name="connsiteX12" fmla="*/ 422025 w 550866"/>
                <a:gd name="connsiteY12" fmla="*/ 90930 h 211024"/>
                <a:gd name="connsiteX13" fmla="*/ 493213 w 550866"/>
                <a:gd name="connsiteY13" fmla="*/ 35139 h 211024"/>
                <a:gd name="connsiteX14" fmla="*/ 505665 w 550866"/>
                <a:gd name="connsiteY14" fmla="*/ 50936 h 211024"/>
                <a:gd name="connsiteX15" fmla="*/ 434113 w 550866"/>
                <a:gd name="connsiteY15" fmla="*/ 107021 h 211024"/>
                <a:gd name="connsiteX16" fmla="*/ 369291 w 550866"/>
                <a:gd name="connsiteY16" fmla="*/ 148784 h 211024"/>
                <a:gd name="connsiteX17" fmla="*/ 300910 w 550866"/>
                <a:gd name="connsiteY17" fmla="*/ 180538 h 211024"/>
                <a:gd name="connsiteX18" fmla="*/ 228633 w 550866"/>
                <a:gd name="connsiteY18" fmla="*/ 199792 h 211024"/>
                <a:gd name="connsiteX19" fmla="*/ 153643 w 550866"/>
                <a:gd name="connsiteY19" fmla="*/ 208742 h 211024"/>
                <a:gd name="connsiteX20" fmla="*/ 77068 w 550866"/>
                <a:gd name="connsiteY20" fmla="*/ 210872 h 211024"/>
                <a:gd name="connsiteX21" fmla="*/ -84 w 550866"/>
                <a:gd name="connsiteY21" fmla="*/ 209640 h 211024"/>
                <a:gd name="connsiteX22" fmla="*/ 463193 w 550866"/>
                <a:gd name="connsiteY22" fmla="*/ 20950 h 211024"/>
                <a:gd name="connsiteX23" fmla="*/ 550782 w 550866"/>
                <a:gd name="connsiteY23" fmla="*/ -152 h 211024"/>
                <a:gd name="connsiteX24" fmla="*/ 515147 w 550866"/>
                <a:gd name="connsiteY24" fmla="*/ 82395 h 21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50866" h="211024">
                  <a:moveTo>
                    <a:pt x="238" y="189555"/>
                  </a:moveTo>
                  <a:lnTo>
                    <a:pt x="77162" y="190775"/>
                  </a:lnTo>
                  <a:lnTo>
                    <a:pt x="76719" y="190775"/>
                  </a:lnTo>
                  <a:lnTo>
                    <a:pt x="152622" y="188658"/>
                  </a:lnTo>
                  <a:lnTo>
                    <a:pt x="151696" y="188725"/>
                  </a:lnTo>
                  <a:lnTo>
                    <a:pt x="225530" y="179922"/>
                  </a:lnTo>
                  <a:lnTo>
                    <a:pt x="224133" y="180190"/>
                  </a:lnTo>
                  <a:lnTo>
                    <a:pt x="294866" y="161352"/>
                  </a:lnTo>
                  <a:lnTo>
                    <a:pt x="293200" y="161955"/>
                  </a:lnTo>
                  <a:lnTo>
                    <a:pt x="360144" y="130857"/>
                  </a:lnTo>
                  <a:lnTo>
                    <a:pt x="358935" y="131527"/>
                  </a:lnTo>
                  <a:lnTo>
                    <a:pt x="422790" y="90394"/>
                  </a:lnTo>
                  <a:lnTo>
                    <a:pt x="422025" y="90930"/>
                  </a:lnTo>
                  <a:lnTo>
                    <a:pt x="493213" y="35139"/>
                  </a:lnTo>
                  <a:lnTo>
                    <a:pt x="505665" y="50936"/>
                  </a:lnTo>
                  <a:lnTo>
                    <a:pt x="434113" y="107021"/>
                  </a:lnTo>
                  <a:lnTo>
                    <a:pt x="369291" y="148784"/>
                  </a:lnTo>
                  <a:lnTo>
                    <a:pt x="300910" y="180538"/>
                  </a:lnTo>
                  <a:lnTo>
                    <a:pt x="228633" y="199792"/>
                  </a:lnTo>
                  <a:lnTo>
                    <a:pt x="153643" y="208742"/>
                  </a:lnTo>
                  <a:lnTo>
                    <a:pt x="77068" y="210872"/>
                  </a:lnTo>
                  <a:lnTo>
                    <a:pt x="-84" y="209640"/>
                  </a:lnTo>
                  <a:close/>
                  <a:moveTo>
                    <a:pt x="463193" y="20950"/>
                  </a:moveTo>
                  <a:lnTo>
                    <a:pt x="550782" y="-152"/>
                  </a:lnTo>
                  <a:lnTo>
                    <a:pt x="515147" y="82395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C6CD8D1-85FE-D522-E41E-BB2D9F445711}"/>
                </a:ext>
              </a:extLst>
            </p:cNvPr>
            <p:cNvSpPr/>
            <p:nvPr/>
          </p:nvSpPr>
          <p:spPr>
            <a:xfrm flipV="1">
              <a:off x="2861658" y="3053797"/>
              <a:ext cx="564248" cy="221074"/>
            </a:xfrm>
            <a:custGeom>
              <a:avLst/>
              <a:gdLst>
                <a:gd name="connsiteX0" fmla="*/ 358 w 564248"/>
                <a:gd name="connsiteY0" fmla="*/ 206407 h 221074"/>
                <a:gd name="connsiteX1" fmla="*/ 79161 w 564248"/>
                <a:gd name="connsiteY1" fmla="*/ 207715 h 221074"/>
                <a:gd name="connsiteX2" fmla="*/ 78853 w 564248"/>
                <a:gd name="connsiteY2" fmla="*/ 207716 h 221074"/>
                <a:gd name="connsiteX3" fmla="*/ 156598 w 564248"/>
                <a:gd name="connsiteY3" fmla="*/ 205457 h 221074"/>
                <a:gd name="connsiteX4" fmla="*/ 155964 w 564248"/>
                <a:gd name="connsiteY4" fmla="*/ 205505 h 221074"/>
                <a:gd name="connsiteX5" fmla="*/ 231595 w 564248"/>
                <a:gd name="connsiteY5" fmla="*/ 196113 h 221074"/>
                <a:gd name="connsiteX6" fmla="*/ 230625 w 564248"/>
                <a:gd name="connsiteY6" fmla="*/ 196306 h 221074"/>
                <a:gd name="connsiteX7" fmla="*/ 303082 w 564248"/>
                <a:gd name="connsiteY7" fmla="*/ 176212 h 221074"/>
                <a:gd name="connsiteX8" fmla="*/ 301951 w 564248"/>
                <a:gd name="connsiteY8" fmla="*/ 176640 h 221074"/>
                <a:gd name="connsiteX9" fmla="*/ 370528 w 564248"/>
                <a:gd name="connsiteY9" fmla="*/ 143467 h 221074"/>
                <a:gd name="connsiteX10" fmla="*/ 369710 w 564248"/>
                <a:gd name="connsiteY10" fmla="*/ 143936 h 221074"/>
                <a:gd name="connsiteX11" fmla="*/ 435115 w 564248"/>
                <a:gd name="connsiteY11" fmla="*/ 100062 h 221074"/>
                <a:gd name="connsiteX12" fmla="*/ 434642 w 564248"/>
                <a:gd name="connsiteY12" fmla="*/ 100410 h 221074"/>
                <a:gd name="connsiteX13" fmla="*/ 497932 w 564248"/>
                <a:gd name="connsiteY13" fmla="*/ 49403 h 221074"/>
                <a:gd name="connsiteX14" fmla="*/ 497718 w 564248"/>
                <a:gd name="connsiteY14" fmla="*/ 49583 h 221074"/>
                <a:gd name="connsiteX15" fmla="*/ 509510 w 564248"/>
                <a:gd name="connsiteY15" fmla="*/ 39241 h 221074"/>
                <a:gd name="connsiteX16" fmla="*/ 518379 w 564248"/>
                <a:gd name="connsiteY16" fmla="*/ 49304 h 221074"/>
                <a:gd name="connsiteX17" fmla="*/ 506481 w 564248"/>
                <a:gd name="connsiteY17" fmla="*/ 59737 h 221074"/>
                <a:gd name="connsiteX18" fmla="*/ 442855 w 564248"/>
                <a:gd name="connsiteY18" fmla="*/ 111017 h 221074"/>
                <a:gd name="connsiteX19" fmla="*/ 376814 w 564248"/>
                <a:gd name="connsiteY19" fmla="*/ 155318 h 221074"/>
                <a:gd name="connsiteX20" fmla="*/ 307264 w 564248"/>
                <a:gd name="connsiteY20" fmla="*/ 188960 h 221074"/>
                <a:gd name="connsiteX21" fmla="*/ 233745 w 564248"/>
                <a:gd name="connsiteY21" fmla="*/ 209348 h 221074"/>
                <a:gd name="connsiteX22" fmla="*/ 157309 w 564248"/>
                <a:gd name="connsiteY22" fmla="*/ 218841 h 221074"/>
                <a:gd name="connsiteX23" fmla="*/ 79091 w 564248"/>
                <a:gd name="connsiteY23" fmla="*/ 221114 h 221074"/>
                <a:gd name="connsiteX24" fmla="*/ 135 w 564248"/>
                <a:gd name="connsiteY24" fmla="*/ 219804 h 221074"/>
                <a:gd name="connsiteX25" fmla="*/ 477251 w 564248"/>
                <a:gd name="connsiteY25" fmla="*/ 22931 h 221074"/>
                <a:gd name="connsiteX26" fmla="*/ 564383 w 564248"/>
                <a:gd name="connsiteY26" fmla="*/ 40 h 221074"/>
                <a:gd name="connsiteX27" fmla="*/ 530462 w 564248"/>
                <a:gd name="connsiteY27" fmla="*/ 83307 h 22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4248" h="221074">
                  <a:moveTo>
                    <a:pt x="358" y="206407"/>
                  </a:moveTo>
                  <a:lnTo>
                    <a:pt x="79161" y="207715"/>
                  </a:lnTo>
                  <a:lnTo>
                    <a:pt x="78853" y="207716"/>
                  </a:lnTo>
                  <a:lnTo>
                    <a:pt x="156598" y="205457"/>
                  </a:lnTo>
                  <a:lnTo>
                    <a:pt x="155964" y="205505"/>
                  </a:lnTo>
                  <a:lnTo>
                    <a:pt x="231595" y="196113"/>
                  </a:lnTo>
                  <a:lnTo>
                    <a:pt x="230625" y="196306"/>
                  </a:lnTo>
                  <a:lnTo>
                    <a:pt x="303082" y="176212"/>
                  </a:lnTo>
                  <a:lnTo>
                    <a:pt x="301951" y="176640"/>
                  </a:lnTo>
                  <a:lnTo>
                    <a:pt x="370528" y="143467"/>
                  </a:lnTo>
                  <a:lnTo>
                    <a:pt x="369710" y="143936"/>
                  </a:lnTo>
                  <a:lnTo>
                    <a:pt x="435115" y="100062"/>
                  </a:lnTo>
                  <a:lnTo>
                    <a:pt x="434642" y="100410"/>
                  </a:lnTo>
                  <a:lnTo>
                    <a:pt x="497932" y="49403"/>
                  </a:lnTo>
                  <a:lnTo>
                    <a:pt x="497718" y="49583"/>
                  </a:lnTo>
                  <a:lnTo>
                    <a:pt x="509510" y="39241"/>
                  </a:lnTo>
                  <a:lnTo>
                    <a:pt x="518379" y="49304"/>
                  </a:lnTo>
                  <a:lnTo>
                    <a:pt x="506481" y="59737"/>
                  </a:lnTo>
                  <a:lnTo>
                    <a:pt x="442855" y="111017"/>
                  </a:lnTo>
                  <a:lnTo>
                    <a:pt x="376814" y="155318"/>
                  </a:lnTo>
                  <a:lnTo>
                    <a:pt x="307264" y="188960"/>
                  </a:lnTo>
                  <a:lnTo>
                    <a:pt x="233745" y="209348"/>
                  </a:lnTo>
                  <a:lnTo>
                    <a:pt x="157309" y="218841"/>
                  </a:lnTo>
                  <a:lnTo>
                    <a:pt x="79091" y="221114"/>
                  </a:lnTo>
                  <a:lnTo>
                    <a:pt x="135" y="219804"/>
                  </a:lnTo>
                  <a:close/>
                  <a:moveTo>
                    <a:pt x="477251" y="22931"/>
                  </a:moveTo>
                  <a:lnTo>
                    <a:pt x="564383" y="40"/>
                  </a:lnTo>
                  <a:lnTo>
                    <a:pt x="530462" y="83307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60D441A-540E-A546-AEE3-50C01A32A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19190" y="2571458"/>
              <a:ext cx="362658" cy="361755"/>
            </a:xfrm>
            <a:custGeom>
              <a:avLst/>
              <a:gdLst>
                <a:gd name="connsiteX0" fmla="*/ 173 w 362658"/>
                <a:gd name="connsiteY0" fmla="*/ 1 h 361755"/>
                <a:gd name="connsiteX1" fmla="*/ 362832 w 362658"/>
                <a:gd name="connsiteY1" fmla="*/ 1 h 361755"/>
                <a:gd name="connsiteX2" fmla="*/ 362832 w 362658"/>
                <a:gd name="connsiteY2" fmla="*/ 361757 h 361755"/>
                <a:gd name="connsiteX3" fmla="*/ 173 w 362658"/>
                <a:gd name="connsiteY3" fmla="*/ 361757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173" y="1"/>
                  </a:moveTo>
                  <a:lnTo>
                    <a:pt x="362832" y="1"/>
                  </a:lnTo>
                  <a:lnTo>
                    <a:pt x="362832" y="361757"/>
                  </a:lnTo>
                  <a:lnTo>
                    <a:pt x="173" y="361757"/>
                  </a:lnTo>
                  <a:close/>
                </a:path>
              </a:pathLst>
            </a:custGeom>
          </p:spPr>
        </p:pic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5EDE8FD-44B6-F13E-A293-808CF2E217D9}"/>
                </a:ext>
              </a:extLst>
            </p:cNvPr>
            <p:cNvSpPr/>
            <p:nvPr/>
          </p:nvSpPr>
          <p:spPr>
            <a:xfrm>
              <a:off x="4278827" y="2946612"/>
              <a:ext cx="80590" cy="192065"/>
            </a:xfrm>
            <a:custGeom>
              <a:avLst/>
              <a:gdLst>
                <a:gd name="connsiteX0" fmla="*/ 50285 w 80590"/>
                <a:gd name="connsiteY0" fmla="*/ -152 h 192065"/>
                <a:gd name="connsiteX1" fmla="*/ 50285 w 80590"/>
                <a:gd name="connsiteY1" fmla="*/ 124922 h 192065"/>
                <a:gd name="connsiteX2" fmla="*/ 30138 w 80590"/>
                <a:gd name="connsiteY2" fmla="*/ 124922 h 192065"/>
                <a:gd name="connsiteX3" fmla="*/ 30138 w 80590"/>
                <a:gd name="connsiteY3" fmla="*/ -152 h 192065"/>
                <a:gd name="connsiteX4" fmla="*/ 80507 w 80590"/>
                <a:gd name="connsiteY4" fmla="*/ 111523 h 192065"/>
                <a:gd name="connsiteX5" fmla="*/ 40211 w 80590"/>
                <a:gd name="connsiteY5" fmla="*/ 191914 h 192065"/>
                <a:gd name="connsiteX6" fmla="*/ -84 w 80590"/>
                <a:gd name="connsiteY6" fmla="*/ 111523 h 19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590" h="192065">
                  <a:moveTo>
                    <a:pt x="50285" y="-152"/>
                  </a:moveTo>
                  <a:lnTo>
                    <a:pt x="50285" y="124922"/>
                  </a:lnTo>
                  <a:lnTo>
                    <a:pt x="30138" y="124922"/>
                  </a:lnTo>
                  <a:lnTo>
                    <a:pt x="30138" y="-152"/>
                  </a:lnTo>
                  <a:close/>
                  <a:moveTo>
                    <a:pt x="80507" y="111523"/>
                  </a:moveTo>
                  <a:lnTo>
                    <a:pt x="40211" y="191914"/>
                  </a:lnTo>
                  <a:lnTo>
                    <a:pt x="-84" y="111523"/>
                  </a:lnTo>
                  <a:close/>
                </a:path>
              </a:pathLst>
            </a:custGeom>
            <a:solidFill>
              <a:srgbClr val="FF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4BF9A-E028-2FD8-34A9-50E0097A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31077" y="3134189"/>
              <a:ext cx="362658" cy="361755"/>
            </a:xfrm>
            <a:custGeom>
              <a:avLst/>
              <a:gdLst>
                <a:gd name="connsiteX0" fmla="*/ 226 w 362658"/>
                <a:gd name="connsiteY0" fmla="*/ 43 h 361755"/>
                <a:gd name="connsiteX1" fmla="*/ 362885 w 362658"/>
                <a:gd name="connsiteY1" fmla="*/ 43 h 361755"/>
                <a:gd name="connsiteX2" fmla="*/ 362885 w 362658"/>
                <a:gd name="connsiteY2" fmla="*/ 361799 h 361755"/>
                <a:gd name="connsiteX3" fmla="*/ 226 w 362658"/>
                <a:gd name="connsiteY3" fmla="*/ 361799 h 361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658" h="361755">
                  <a:moveTo>
                    <a:pt x="226" y="43"/>
                  </a:moveTo>
                  <a:lnTo>
                    <a:pt x="362885" y="43"/>
                  </a:lnTo>
                  <a:lnTo>
                    <a:pt x="362885" y="361799"/>
                  </a:lnTo>
                  <a:lnTo>
                    <a:pt x="226" y="361799"/>
                  </a:lnTo>
                  <a:close/>
                </a:path>
              </a:pathLst>
            </a:custGeom>
          </p:spPr>
        </p:pic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179446B-9F32-0792-959B-ABA7089B0D50}"/>
                </a:ext>
              </a:extLst>
            </p:cNvPr>
            <p:cNvSpPr/>
            <p:nvPr/>
          </p:nvSpPr>
          <p:spPr>
            <a:xfrm>
              <a:off x="4547464" y="3268173"/>
              <a:ext cx="423774" cy="80390"/>
            </a:xfrm>
            <a:custGeom>
              <a:avLst/>
              <a:gdLst>
                <a:gd name="connsiteX0" fmla="*/ -84 w 423774"/>
                <a:gd name="connsiteY0" fmla="*/ 29994 h 80390"/>
                <a:gd name="connsiteX1" fmla="*/ 356531 w 423774"/>
                <a:gd name="connsiteY1" fmla="*/ 29994 h 80390"/>
                <a:gd name="connsiteX2" fmla="*/ 356531 w 423774"/>
                <a:gd name="connsiteY2" fmla="*/ 50092 h 80390"/>
                <a:gd name="connsiteX3" fmla="*/ -84 w 423774"/>
                <a:gd name="connsiteY3" fmla="*/ 50092 h 80390"/>
                <a:gd name="connsiteX4" fmla="*/ 343099 w 423774"/>
                <a:gd name="connsiteY4" fmla="*/ -152 h 80390"/>
                <a:gd name="connsiteX5" fmla="*/ 423690 w 423774"/>
                <a:gd name="connsiteY5" fmla="*/ 40043 h 80390"/>
                <a:gd name="connsiteX6" fmla="*/ 343099 w 423774"/>
                <a:gd name="connsiteY6" fmla="*/ 80238 h 8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774" h="80390">
                  <a:moveTo>
                    <a:pt x="-84" y="29994"/>
                  </a:moveTo>
                  <a:lnTo>
                    <a:pt x="356531" y="29994"/>
                  </a:lnTo>
                  <a:lnTo>
                    <a:pt x="356531" y="50092"/>
                  </a:lnTo>
                  <a:lnTo>
                    <a:pt x="-84" y="50092"/>
                  </a:lnTo>
                  <a:close/>
                  <a:moveTo>
                    <a:pt x="343099" y="-152"/>
                  </a:moveTo>
                  <a:lnTo>
                    <a:pt x="423690" y="40043"/>
                  </a:lnTo>
                  <a:lnTo>
                    <a:pt x="343099" y="80238"/>
                  </a:lnTo>
                  <a:close/>
                </a:path>
              </a:pathLst>
            </a:custGeom>
            <a:solidFill>
              <a:srgbClr val="000000"/>
            </a:solidFill>
            <a:ln w="1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80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FF76740-FB15-71BD-E9B8-C8906BC26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7282" y="3093994"/>
              <a:ext cx="429818" cy="428747"/>
            </a:xfrm>
            <a:custGeom>
              <a:avLst/>
              <a:gdLst>
                <a:gd name="connsiteX0" fmla="*/ 292 w 429818"/>
                <a:gd name="connsiteY0" fmla="*/ 43 h 428747"/>
                <a:gd name="connsiteX1" fmla="*/ 430111 w 429818"/>
                <a:gd name="connsiteY1" fmla="*/ 43 h 428747"/>
                <a:gd name="connsiteX2" fmla="*/ 430111 w 429818"/>
                <a:gd name="connsiteY2" fmla="*/ 428791 h 428747"/>
                <a:gd name="connsiteX3" fmla="*/ 292 w 429818"/>
                <a:gd name="connsiteY3" fmla="*/ 428791 h 428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818" h="428747">
                  <a:moveTo>
                    <a:pt x="292" y="43"/>
                  </a:moveTo>
                  <a:lnTo>
                    <a:pt x="430111" y="43"/>
                  </a:lnTo>
                  <a:lnTo>
                    <a:pt x="430111" y="428791"/>
                  </a:lnTo>
                  <a:lnTo>
                    <a:pt x="292" y="428791"/>
                  </a:lnTo>
                  <a:close/>
                </a:path>
              </a:pathLst>
            </a:cu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098DEA4-DC67-1D5F-4A78-660C00285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25235" y="2745637"/>
              <a:ext cx="443250" cy="442146"/>
            </a:xfrm>
            <a:custGeom>
              <a:avLst/>
              <a:gdLst>
                <a:gd name="connsiteX0" fmla="*/ 87 w 443250"/>
                <a:gd name="connsiteY0" fmla="*/ 2 h 442146"/>
                <a:gd name="connsiteX1" fmla="*/ 443337 w 443250"/>
                <a:gd name="connsiteY1" fmla="*/ 2 h 442146"/>
                <a:gd name="connsiteX2" fmla="*/ 443337 w 443250"/>
                <a:gd name="connsiteY2" fmla="*/ 442148 h 442146"/>
                <a:gd name="connsiteX3" fmla="*/ 87 w 443250"/>
                <a:gd name="connsiteY3" fmla="*/ 442148 h 44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50" h="442146">
                  <a:moveTo>
                    <a:pt x="87" y="2"/>
                  </a:moveTo>
                  <a:lnTo>
                    <a:pt x="443337" y="2"/>
                  </a:lnTo>
                  <a:lnTo>
                    <a:pt x="443337" y="442148"/>
                  </a:lnTo>
                  <a:lnTo>
                    <a:pt x="87" y="442148"/>
                  </a:lnTo>
                  <a:close/>
                </a:path>
              </a:pathLst>
            </a:cu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6D2281-A41B-B045-EB79-7F3FC94F7EAE}"/>
                </a:ext>
              </a:extLst>
            </p:cNvPr>
            <p:cNvSpPr txBox="1"/>
            <p:nvPr/>
          </p:nvSpPr>
          <p:spPr>
            <a:xfrm>
              <a:off x="3784298" y="3466273"/>
              <a:ext cx="1847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US" sz="1050" b="1" spc="0" baseline="0" dirty="0">
                <a:ln/>
                <a:solidFill>
                  <a:srgbClr val="FF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B0C6F13-7E86-1F32-4507-6102F22E7B11}"/>
                </a:ext>
              </a:extLst>
            </p:cNvPr>
            <p:cNvSpPr txBox="1"/>
            <p:nvPr/>
          </p:nvSpPr>
          <p:spPr>
            <a:xfrm>
              <a:off x="4097826" y="3493068"/>
              <a:ext cx="49725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Slicer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2F40F6-A6A2-35D2-80E8-75B0C50E2EC3}"/>
                </a:ext>
              </a:extLst>
            </p:cNvPr>
            <p:cNvSpPr txBox="1"/>
            <p:nvPr/>
          </p:nvSpPr>
          <p:spPr>
            <a:xfrm>
              <a:off x="4942592" y="3493069"/>
              <a:ext cx="4828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result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D51F86-0E6B-A878-BC4B-FA66F6A8F2A4}"/>
                </a:ext>
              </a:extLst>
            </p:cNvPr>
            <p:cNvSpPr txBox="1"/>
            <p:nvPr/>
          </p:nvSpPr>
          <p:spPr>
            <a:xfrm>
              <a:off x="1246394" y="3345687"/>
              <a:ext cx="24397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F86F18-716C-60F6-6208-E75A54125733}"/>
                </a:ext>
              </a:extLst>
            </p:cNvPr>
            <p:cNvSpPr txBox="1"/>
            <p:nvPr/>
          </p:nvSpPr>
          <p:spPr>
            <a:xfrm>
              <a:off x="1308517" y="3345687"/>
              <a:ext cx="7200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ompilable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9C4CE5-DB41-7DF6-80CE-7D2AC79379C9}"/>
                </a:ext>
              </a:extLst>
            </p:cNvPr>
            <p:cNvSpPr txBox="1"/>
            <p:nvPr/>
          </p:nvSpPr>
          <p:spPr>
            <a:xfrm>
              <a:off x="1061821" y="2836550"/>
              <a:ext cx="9621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FF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uncompilable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6BD54C7-F3CA-D4CD-F812-B89FE2A3C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416" y="3027002"/>
              <a:ext cx="376091" cy="375154"/>
            </a:xfrm>
            <a:custGeom>
              <a:avLst/>
              <a:gdLst>
                <a:gd name="connsiteX0" fmla="*/ 24 w 376091"/>
                <a:gd name="connsiteY0" fmla="*/ 36 h 375154"/>
                <a:gd name="connsiteX1" fmla="*/ 376115 w 376091"/>
                <a:gd name="connsiteY1" fmla="*/ 36 h 375154"/>
                <a:gd name="connsiteX2" fmla="*/ 376115 w 376091"/>
                <a:gd name="connsiteY2" fmla="*/ 375190 h 375154"/>
                <a:gd name="connsiteX3" fmla="*/ 24 w 376091"/>
                <a:gd name="connsiteY3" fmla="*/ 375190 h 37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6091" h="375154">
                  <a:moveTo>
                    <a:pt x="24" y="36"/>
                  </a:moveTo>
                  <a:lnTo>
                    <a:pt x="376115" y="36"/>
                  </a:lnTo>
                  <a:lnTo>
                    <a:pt x="376115" y="375190"/>
                  </a:lnTo>
                  <a:lnTo>
                    <a:pt x="24" y="37519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23881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09D4C7-676D-2A26-D9A9-7F314B7D8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Pretraining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GraphCodeBert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Predication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3F052-7FF8-C343-CBB8-3A6890A8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50942-1F3D-57D2-B86F-F119B6EB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CEC2D-EF37-D79B-FD1B-16E7DA50A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799307"/>
            <a:ext cx="9728200" cy="4036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F0C3B-8ECD-D5BE-2F55-A2C6B89CB3A8}"/>
              </a:ext>
            </a:extLst>
          </p:cNvPr>
          <p:cNvSpPr txBox="1"/>
          <p:nvPr/>
        </p:nvSpPr>
        <p:spPr>
          <a:xfrm>
            <a:off x="1181101" y="6093004"/>
            <a:ext cx="62611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ya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Pre-training Code Representations with Data Flow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2021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8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3DFAF6-0A77-8A0F-CDED-8AEA4FF7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Embedding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Classifier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8A0537-E1BE-B932-2401-51E124C6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F578DA-0340-2998-3E79-3CB5CC72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15394-00EF-0AD7-65B7-EADCD2A6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576230"/>
            <a:ext cx="11557000" cy="4780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19E389-2D54-8EC0-6D83-4423ADFB1DE8}"/>
              </a:ext>
            </a:extLst>
          </p:cNvPr>
          <p:cNvSpPr txBox="1"/>
          <p:nvPr/>
        </p:nvSpPr>
        <p:spPr>
          <a:xfrm>
            <a:off x="476250" y="6447651"/>
            <a:ext cx="73914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Aashish 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Yadavally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</a:t>
            </a:r>
            <a:r>
              <a:rPr lang="zh-CN" altLang="en-US" sz="120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 Learning-Based Approach to Static Program Slicing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HK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OOPSLA</a:t>
            </a:r>
            <a:r>
              <a:rPr lang="zh-CN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2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75C94-1398-15C6-C972-EFD869BB5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Decoder-only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AAB0CE-CD17-13FB-E71D-5E4DFB40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B70D08-F952-C9F0-8C16-FB05332E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US" dirty="0"/>
          </a:p>
        </p:txBody>
      </p:sp>
      <p:sp>
        <p:nvSpPr>
          <p:cNvPr id="5" name="Rectangle: Rounded Corners 44">
            <a:extLst>
              <a:ext uri="{FF2B5EF4-FFF2-40B4-BE49-F238E27FC236}">
                <a16:creationId xmlns:a16="http://schemas.microsoft.com/office/drawing/2014/main" id="{21719B23-377C-6753-8033-9C33B39D244F}"/>
              </a:ext>
            </a:extLst>
          </p:cNvPr>
          <p:cNvSpPr/>
          <p:nvPr/>
        </p:nvSpPr>
        <p:spPr>
          <a:xfrm>
            <a:off x="524054" y="2364008"/>
            <a:ext cx="4293921" cy="2735838"/>
          </a:xfrm>
          <a:prstGeom prst="roundRect">
            <a:avLst>
              <a:gd name="adj" fmla="val 4399"/>
            </a:avLst>
          </a:prstGeom>
          <a:solidFill>
            <a:srgbClr val="F9E79F"/>
          </a:solidFill>
          <a:ln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6" name="Rectangle: Rounded Corners 45">
            <a:extLst>
              <a:ext uri="{FF2B5EF4-FFF2-40B4-BE49-F238E27FC236}">
                <a16:creationId xmlns:a16="http://schemas.microsoft.com/office/drawing/2014/main" id="{DA8B856B-C853-CA02-B4D8-27F6E486D20C}"/>
              </a:ext>
            </a:extLst>
          </p:cNvPr>
          <p:cNvSpPr/>
          <p:nvPr/>
        </p:nvSpPr>
        <p:spPr>
          <a:xfrm>
            <a:off x="569168" y="2632818"/>
            <a:ext cx="4201225" cy="2421703"/>
          </a:xfrm>
          <a:prstGeom prst="roundRect">
            <a:avLst>
              <a:gd name="adj" fmla="val 439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F1099-EFB7-F9DE-30A0-F9923DA3BEFD}"/>
              </a:ext>
            </a:extLst>
          </p:cNvPr>
          <p:cNvSpPr txBox="1"/>
          <p:nvPr/>
        </p:nvSpPr>
        <p:spPr>
          <a:xfrm>
            <a:off x="609436" y="2690522"/>
            <a:ext cx="4129867" cy="2308324"/>
          </a:xfrm>
          <a:prstGeom prst="rect">
            <a:avLst/>
          </a:prstGeom>
          <a:solidFill>
            <a:schemeClr val="lt1">
              <a:alpha val="0"/>
            </a:schemeClr>
          </a:solidFill>
          <a:ln w="12700">
            <a:solidFill>
              <a:srgbClr val="4987E8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900" dirty="0">
                <a:latin typeface="Consolas" panose="020B0609020204030204" pitchFamily="49" charset="0"/>
              </a:rPr>
              <a:t> 1. Value* </a:t>
            </a:r>
            <a:r>
              <a:rPr lang="en-US" altLang="zh-CN" sz="900" dirty="0">
                <a:solidFill>
                  <a:srgbClr val="8250DF"/>
                </a:solidFill>
                <a:latin typeface="Consolas" panose="020B0609020204030204" pitchFamily="49" charset="0"/>
              </a:rPr>
              <a:t>field2json</a:t>
            </a:r>
            <a:r>
              <a:rPr lang="en-US" altLang="zh-CN" sz="900" dirty="0">
                <a:latin typeface="Consolas" panose="020B0609020204030204" pitchFamily="49" charset="0"/>
              </a:rPr>
              <a:t>(</a:t>
            </a:r>
            <a:r>
              <a:rPr lang="en-US" altLang="zh-CN" sz="900" dirty="0" err="1">
                <a:latin typeface="Consolas" panose="020B0609020204030204" pitchFamily="49" charset="0"/>
              </a:rPr>
              <a:t>FieldDescriptor</a:t>
            </a:r>
            <a:r>
              <a:rPr lang="en-US" altLang="zh-CN" sz="900" dirty="0">
                <a:latin typeface="Consolas" panose="020B0609020204030204" pitchFamily="49" charset="0"/>
              </a:rPr>
              <a:t> *field, Value* default){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2.   ...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3.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sz="900" dirty="0">
                <a:latin typeface="Consolas" panose="020B0609020204030204" pitchFamily="49" charset="0"/>
              </a:rPr>
              <a:t> repeated = field-&gt;</a:t>
            </a:r>
            <a:r>
              <a:rPr lang="en-US" altLang="zh-CN" sz="900" dirty="0" err="1">
                <a:solidFill>
                  <a:schemeClr val="tx1"/>
                </a:solidFill>
                <a:latin typeface="Consolas" panose="020B0609020204030204" pitchFamily="49" charset="0"/>
              </a:rPr>
              <a:t>is_repeated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4.</a:t>
            </a:r>
            <a:r>
              <a:rPr lang="zh-CN" altLang="en-US" sz="900" dirty="0">
                <a:latin typeface="Consolas" panose="020B0609020204030204" pitchFamily="49" charset="0"/>
              </a:rPr>
              <a:t>   </a:t>
            </a:r>
            <a:r>
              <a:rPr lang="en-US" altLang="zh-CN" sz="900" dirty="0">
                <a:latin typeface="Consolas" panose="020B0609020204030204" pitchFamily="49" charset="0"/>
              </a:rPr>
              <a:t>Value</a:t>
            </a:r>
            <a:r>
              <a:rPr lang="zh-CN" altLang="en-US" sz="900" dirty="0">
                <a:latin typeface="Consolas" panose="020B0609020204030204" pitchFamily="49" charset="0"/>
              </a:rPr>
              <a:t>* </a:t>
            </a:r>
            <a:r>
              <a:rPr lang="en-US" altLang="zh-CN" sz="900" dirty="0" err="1">
                <a:latin typeface="Consolas" panose="020B0609020204030204" pitchFamily="49" charset="0"/>
              </a:rPr>
              <a:t>json</a:t>
            </a:r>
            <a:r>
              <a:rPr lang="zh-CN" altLang="en-US" sz="900" dirty="0"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latin typeface="Consolas" panose="020B0609020204030204" pitchFamily="49" charset="0"/>
              </a:rPr>
              <a:t>=</a:t>
            </a:r>
            <a:r>
              <a:rPr lang="zh-CN" altLang="en-US" sz="900" dirty="0"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9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en-US" altLang="zh-CN" sz="900" dirty="0">
              <a:solidFill>
                <a:schemeClr val="tx1"/>
              </a:solidFill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5.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900" dirty="0">
                <a:latin typeface="Consolas" panose="020B0609020204030204" pitchFamily="49" charset="0"/>
              </a:rPr>
              <a:t> (repeated) 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6.     json = new Value(</a:t>
            </a:r>
            <a:r>
              <a:rPr lang="en-US" altLang="zh-CN" sz="900" dirty="0" err="1">
                <a:latin typeface="Consolas" panose="020B0609020204030204" pitchFamily="49" charset="0"/>
              </a:rPr>
              <a:t>kArrayType</a:t>
            </a:r>
            <a:r>
              <a:rPr lang="en-US" altLang="zh-CN" sz="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7.   }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8.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900" dirty="0">
                <a:latin typeface="Consolas" panose="020B0609020204030204" pitchFamily="49" charset="0"/>
              </a:rPr>
              <a:t> (field-&gt;</a:t>
            </a:r>
            <a:r>
              <a:rPr lang="en-US" altLang="zh-CN" sz="900" dirty="0" err="1">
                <a:latin typeface="Consolas" panose="020B0609020204030204" pitchFamily="49" charset="0"/>
              </a:rPr>
              <a:t>cpp_type</a:t>
            </a:r>
            <a:r>
              <a:rPr lang="en-US" altLang="zh-CN" sz="900" dirty="0">
                <a:latin typeface="Consolas" panose="020B0609020204030204" pitchFamily="49" charset="0"/>
              </a:rPr>
              <a:t>()){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 9. 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900" dirty="0">
                <a:latin typeface="Consolas" panose="020B0609020204030204" pitchFamily="49" charset="0"/>
              </a:rPr>
              <a:t> CPPTYPE_DOUBLE: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10.     ...</a:t>
            </a:r>
          </a:p>
          <a:p>
            <a:pPr marL="228600" indent="-228600">
              <a:buAutoNum type="arabicPeriod" startAt="11"/>
            </a:pPr>
            <a:r>
              <a:rPr lang="en-US" altLang="zh-CN" sz="900" dirty="0">
                <a:latin typeface="Consolas" panose="020B0609020204030204" pitchFamily="49" charset="0"/>
              </a:rPr>
              <a:t>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CN" sz="900" dirty="0">
                <a:latin typeface="Consolas" panose="020B0609020204030204" pitchFamily="49" charset="0"/>
              </a:rPr>
              <a:t>: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pPr marL="228600" indent="-228600">
              <a:buAutoNum type="arabicPeriod" startAt="11"/>
            </a:pPr>
            <a:r>
              <a:rPr lang="en-US" altLang="zh-CN" sz="900" dirty="0">
                <a:latin typeface="Consolas" panose="020B0609020204030204" pitchFamily="49" charset="0"/>
              </a:rPr>
              <a:t>  }</a:t>
            </a:r>
          </a:p>
          <a:p>
            <a:pPr marL="228600" indent="-228600">
              <a:buAutoNum type="arabicPeriod" startAt="13"/>
            </a:pPr>
            <a:r>
              <a:rPr lang="en-US" altLang="zh-CN" sz="900" dirty="0">
                <a:latin typeface="Consolas" panose="020B0609020204030204" pitchFamily="49" charset="0"/>
              </a:rPr>
              <a:t>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900" dirty="0">
                <a:latin typeface="Consolas" panose="020B0609020204030204" pitchFamily="49" charset="0"/>
              </a:rPr>
              <a:t> (!repeated || field-&gt;</a:t>
            </a:r>
            <a:r>
              <a:rPr lang="en-US" altLang="zh-CN" sz="900" dirty="0" err="1">
                <a:latin typeface="Consolas" panose="020B0609020204030204" pitchFamily="49" charset="0"/>
              </a:rPr>
              <a:t>value.</a:t>
            </a:r>
            <a:r>
              <a:rPr lang="en-US" altLang="zh-CN" sz="9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GetType</a:t>
            </a:r>
            <a:r>
              <a:rPr lang="en-US" altLang="zh-CN" sz="900" dirty="0">
                <a:latin typeface="Consolas" panose="020B0609020204030204" pitchFamily="49" charset="0"/>
              </a:rPr>
              <a:t>() != </a:t>
            </a:r>
            <a:r>
              <a:rPr lang="en-US" altLang="zh-CN" sz="900" dirty="0" err="1">
                <a:latin typeface="Consolas" panose="020B0609020204030204" pitchFamily="49" charset="0"/>
              </a:rPr>
              <a:t>kArrayType</a:t>
            </a:r>
            <a:r>
              <a:rPr lang="en-US" altLang="zh-CN" sz="9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14. </a:t>
            </a:r>
            <a:r>
              <a:rPr lang="zh-CN" altLang="en-US" sz="900" dirty="0">
                <a:latin typeface="Consolas" panose="020B0609020204030204" pitchFamily="49" charset="0"/>
              </a:rPr>
              <a:t> 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zh-CN" altLang="en-US" sz="9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chemeClr val="tx1"/>
                </a:solidFill>
                <a:latin typeface="Consolas" panose="020B0609020204030204" pitchFamily="49" charset="0"/>
              </a:rPr>
              <a:t>json</a:t>
            </a:r>
            <a:r>
              <a:rPr lang="en-US" altLang="zh-CN" sz="9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15.   </a:t>
            </a:r>
            <a:r>
              <a:rPr lang="en-US" altLang="zh-CN" sz="9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900" dirty="0">
                <a:latin typeface="Consolas" panose="020B0609020204030204" pitchFamily="49" charset="0"/>
              </a:rPr>
              <a:t> default;</a:t>
            </a:r>
          </a:p>
          <a:p>
            <a:r>
              <a:rPr lang="en-US" altLang="zh-CN" sz="900" dirty="0">
                <a:latin typeface="Consolas" panose="020B0609020204030204" pitchFamily="49" charset="0"/>
              </a:rPr>
              <a:t>16. }</a:t>
            </a:r>
            <a:endParaRPr lang="zh-CN" altLang="en-US" sz="9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CD9A0-4D47-AA0D-704D-C218C5D73044}"/>
              </a:ext>
            </a:extLst>
          </p:cNvPr>
          <p:cNvSpPr txBox="1"/>
          <p:nvPr/>
        </p:nvSpPr>
        <p:spPr>
          <a:xfrm>
            <a:off x="779681" y="2375006"/>
            <a:ext cx="2514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src/sofa/pbrpc/pbjson.cc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8ADC51-6685-9E4D-1807-331BF0C4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0" y="2442841"/>
            <a:ext cx="155420" cy="15542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AC77E5-95A3-B815-71DD-6F5E4BBFB783}"/>
              </a:ext>
            </a:extLst>
          </p:cNvPr>
          <p:cNvSpPr/>
          <p:nvPr/>
        </p:nvSpPr>
        <p:spPr>
          <a:xfrm>
            <a:off x="5070316" y="1799405"/>
            <a:ext cx="6283484" cy="5410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E96F37-E64B-DA93-7932-6AC534F299EA}"/>
              </a:ext>
            </a:extLst>
          </p:cNvPr>
          <p:cNvSpPr/>
          <p:nvPr/>
        </p:nvSpPr>
        <p:spPr>
          <a:xfrm>
            <a:off x="5070315" y="2573993"/>
            <a:ext cx="6393479" cy="31808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69303-E5FF-7C1B-D48F-BCA8F63FFC65}"/>
              </a:ext>
            </a:extLst>
          </p:cNvPr>
          <p:cNvSpPr txBox="1"/>
          <p:nvPr/>
        </p:nvSpPr>
        <p:spPr>
          <a:xfrm>
            <a:off x="5577462" y="1840439"/>
            <a:ext cx="56795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Please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generate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slices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containing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statement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that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depend</a:t>
            </a:r>
          </a:p>
          <a:p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variable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i="1" dirty="0">
                <a:latin typeface="Consolas" panose="020B0609020204030204" pitchFamily="49" charset="0"/>
                <a:cs typeface="Courier New" panose="02070309020205020404" pitchFamily="49" charset="0"/>
              </a:rPr>
              <a:t>repeated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at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line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3?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273265-F978-5672-5096-A148D770DAEB}"/>
              </a:ext>
            </a:extLst>
          </p:cNvPr>
          <p:cNvSpPr txBox="1"/>
          <p:nvPr/>
        </p:nvSpPr>
        <p:spPr>
          <a:xfrm>
            <a:off x="5577462" y="4332321"/>
            <a:ext cx="56256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3.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bool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repeated = field-&gt;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is_repeated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5.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if 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(repeated) {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6.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new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Value(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kArrayType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7.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13.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(repeated &amp;&amp; field-&gt;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value.GetType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() !=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kArrayType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14. </a:t>
            </a:r>
            <a:r>
              <a:rPr lang="zh-CN" alt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HK" altLang="zh-CN" sz="13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HK" altLang="zh-CN" sz="1300" dirty="0" err="1"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en-HK" altLang="zh-CN" sz="13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</p:txBody>
      </p:sp>
      <p:pic>
        <p:nvPicPr>
          <p:cNvPr id="18" name="Picture 2" descr="Anthropic launches free Android AI chatbot app powered by Claude 3.5 Sonnet  - NotebookCheck.net News">
            <a:extLst>
              <a:ext uri="{FF2B5EF4-FFF2-40B4-BE49-F238E27FC236}">
                <a16:creationId xmlns:a16="http://schemas.microsoft.com/office/drawing/2014/main" id="{AEA07570-150A-6E54-34F7-2170E5DD3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858" y="2590290"/>
            <a:ext cx="439731" cy="46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B71C8A-F87E-9648-41A8-E5FBEAE71107}"/>
              </a:ext>
            </a:extLst>
          </p:cNvPr>
          <p:cNvSpPr txBox="1"/>
          <p:nvPr/>
        </p:nvSpPr>
        <p:spPr>
          <a:xfrm>
            <a:off x="5168858" y="2654699"/>
            <a:ext cx="6331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3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Definition of </a:t>
            </a:r>
            <a:r>
              <a:rPr lang="en-HK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repeated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 - starting point</a:t>
            </a:r>
          </a:p>
          <a:p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5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Condition directly uses </a:t>
            </a:r>
            <a:r>
              <a:rPr lang="en-HK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repeated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 - data dependent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6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Executes only when </a:t>
            </a:r>
            <a:r>
              <a:rPr lang="en-HK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repeated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 is true - control dependent on line 5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7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Closing brace of if block - part of control structure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13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Condition uses repeated in </a:t>
            </a:r>
            <a:r>
              <a:rPr lang="en-H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 expression - data dependent</a:t>
            </a:r>
          </a:p>
          <a:p>
            <a:r>
              <a:rPr lang="en-HK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Line 14</a:t>
            </a:r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: Executes only when line 13 condition is true - control dependent on line 13</a:t>
            </a:r>
          </a:p>
          <a:p>
            <a:r>
              <a:rPr lang="en-HK" sz="1200" dirty="0">
                <a:latin typeface="Consolas" panose="020B0609020204030204" pitchFamily="49" charset="0"/>
                <a:cs typeface="Consolas" panose="020B0609020204030204" pitchFamily="49" charset="0"/>
              </a:rPr>
              <a:t>Therefore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we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have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slices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follows:</a:t>
            </a:r>
            <a:endParaRPr lang="en-HK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3AFBCC-7089-5084-31ED-DB65D8D99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947" y="1862008"/>
            <a:ext cx="371441" cy="40394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D73950C-F0CE-AB2D-3E53-CC145994658D}"/>
              </a:ext>
            </a:extLst>
          </p:cNvPr>
          <p:cNvSpPr/>
          <p:nvPr/>
        </p:nvSpPr>
        <p:spPr>
          <a:xfrm>
            <a:off x="628637" y="3008259"/>
            <a:ext cx="4129867" cy="151501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921C2E-9068-F01F-448F-7E2066DBA678}"/>
              </a:ext>
            </a:extLst>
          </p:cNvPr>
          <p:cNvSpPr/>
          <p:nvPr/>
        </p:nvSpPr>
        <p:spPr>
          <a:xfrm>
            <a:off x="604846" y="3290552"/>
            <a:ext cx="4129867" cy="407689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7D90EB-99FC-055B-2068-ABAFB7569C2B}"/>
              </a:ext>
            </a:extLst>
          </p:cNvPr>
          <p:cNvSpPr/>
          <p:nvPr/>
        </p:nvSpPr>
        <p:spPr>
          <a:xfrm>
            <a:off x="614026" y="4395363"/>
            <a:ext cx="4129867" cy="279379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0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14" grpId="0" animBg="1"/>
      <p:bldP spid="15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6ECC6-F660-DB53-9CCB-B0DA6B40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repository-level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Building</a:t>
            </a:r>
            <a:r>
              <a:rPr lang="zh-CN" altLang="en-US" dirty="0"/>
              <a:t> </a:t>
            </a:r>
            <a:r>
              <a:rPr lang="en-US" altLang="zh-CN" dirty="0"/>
              <a:t>block:</a:t>
            </a:r>
            <a:r>
              <a:rPr lang="zh-CN" altLang="en-US" dirty="0"/>
              <a:t> </a:t>
            </a:r>
            <a:r>
              <a:rPr lang="en-US" altLang="zh-CN" dirty="0"/>
              <a:t>LLM-driven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Mission:</a:t>
            </a:r>
            <a:r>
              <a:rPr lang="zh-CN" altLang="en-US" dirty="0"/>
              <a:t> </a:t>
            </a:r>
            <a:r>
              <a:rPr lang="en-US" altLang="zh-CN" dirty="0"/>
              <a:t>Extract</a:t>
            </a:r>
            <a:r>
              <a:rPr lang="zh-CN" altLang="en-US" dirty="0"/>
              <a:t> </a:t>
            </a:r>
            <a:r>
              <a:rPr lang="en-US" altLang="zh-CN" dirty="0"/>
              <a:t>slices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whole</a:t>
            </a:r>
            <a:r>
              <a:rPr lang="zh-CN" altLang="en-US" dirty="0"/>
              <a:t> </a:t>
            </a:r>
            <a:r>
              <a:rPr lang="en-US" altLang="zh-CN" dirty="0"/>
              <a:t>repository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903A3-2CBD-4476-8B22-1339DE7F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21F11-27E6-DBA0-7E2F-FEF4A229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LLM-driven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3766723-44AD-3380-0384-940C5786F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82" y="3208298"/>
            <a:ext cx="2548632" cy="203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8264662-1A65-DB31-A63E-FF6D319C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22" y="3057561"/>
            <a:ext cx="4515278" cy="234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32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2EBB2A-2220-CF80-633A-6DF30101E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End-to-end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Cursor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F809E-3DD3-1CA9-8353-97EAB2CF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B165C8-3DA2-15D8-681C-2E71EB2A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HK" altLang="zh-CN" dirty="0"/>
              <a:t>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0F7C-75EC-87D2-46E9-174C6722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231A4C-180C-551D-2F61-ED5B9B5C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Grading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Criteria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C7D68-9214-1074-5FDC-B2EF9BE7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C7414-4612-B443-929C-C6F2C8C6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2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9F6A7C-0E39-FC4E-A72F-B7952643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/PurCL/</a:t>
            </a:r>
            <a:r>
              <a:rPr lang="en-US" dirty="0" err="1"/>
              <a:t>RepoSlice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7344A-1BA8-790F-CF14-65086EAC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E164C5-B224-5A12-1A2B-7253A1A1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662D0-D2F4-4BFF-A957-BB2CDB12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87" y="1664052"/>
            <a:ext cx="8624825" cy="469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1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DD19C-3DC5-E6B4-AE76-730DBF07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A0CABF-C4C0-22BF-E822-3290B9B4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README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93220-8D23-10B6-62FC-D83D4D0C5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94" y="1081487"/>
            <a:ext cx="8677811" cy="5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6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331-B7F6-3A4B-970A-958A3818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0AB294-EC10-9205-034C-8CA8E56F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5E5802-6FF2-E3F8-671E-264B833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99EE2-0253-B7F9-8C42-0591DB28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3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450B7-7C30-A9FF-4175-D46419AF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E4B3BE-0E04-6CA8-8EF8-D730A3B4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17F2D-CC3D-47A6-36A5-E858E9AF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56" y="2030056"/>
            <a:ext cx="9764287" cy="27978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5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71D6DA1A-B7F4-039D-4ED1-D0D2B63C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95" y="3377495"/>
            <a:ext cx="617478" cy="6437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D574E8-539C-960F-B9CD-99D611F7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1E732C-1915-D5DB-6F92-5E6F6BD3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US" dirty="0"/>
          </a:p>
        </p:txBody>
      </p:sp>
      <p:pic>
        <p:nvPicPr>
          <p:cNvPr id="8" name="Picture 8" descr="Llm Images – Browse 31,603 Stock Photos, Vectors, and Video | Adobe Stock">
            <a:extLst>
              <a:ext uri="{FF2B5EF4-FFF2-40B4-BE49-F238E27FC236}">
                <a16:creationId xmlns:a16="http://schemas.microsoft.com/office/drawing/2014/main" id="{D2EADDFB-B6B6-31F6-D188-46EE0E77B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46" y="1693194"/>
            <a:ext cx="12192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523CC4F-E944-67F4-B91E-6B12B02F55A0}"/>
              </a:ext>
            </a:extLst>
          </p:cNvPr>
          <p:cNvSpPr/>
          <p:nvPr/>
        </p:nvSpPr>
        <p:spPr>
          <a:xfrm>
            <a:off x="7538026" y="3191368"/>
            <a:ext cx="1736743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altLang="zh-CN" sz="1600" dirty="0" err="1">
                <a:latin typeface="Avenir Next LT Pro" panose="020B0504020202020204" pitchFamily="34" charset="77"/>
              </a:rPr>
              <a:t>SliceScan</a:t>
            </a:r>
            <a:r>
              <a:rPr lang="en-US" altLang="zh-CN" sz="1600" dirty="0">
                <a:latin typeface="Avenir Next LT Pro" panose="020B0504020202020204" pitchFamily="34" charset="77"/>
              </a:rPr>
              <a:t>Agent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2E6DAE-E982-E3DB-1E18-5B6655B4019F}"/>
              </a:ext>
            </a:extLst>
          </p:cNvPr>
          <p:cNvSpPr/>
          <p:nvPr/>
        </p:nvSpPr>
        <p:spPr>
          <a:xfrm>
            <a:off x="3172419" y="3191368"/>
            <a:ext cx="1366662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venir Next LT Pro" panose="020B0504020202020204" pitchFamily="34" charset="77"/>
              </a:rPr>
              <a:t>TS-Analyzer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1539E18F-7567-9F1B-5902-975348B415D8}"/>
              </a:ext>
            </a:extLst>
          </p:cNvPr>
          <p:cNvSpPr/>
          <p:nvPr/>
        </p:nvSpPr>
        <p:spPr>
          <a:xfrm>
            <a:off x="8297522" y="2559864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9101989-3568-2DF0-244C-3328A9D99EC0}"/>
              </a:ext>
            </a:extLst>
          </p:cNvPr>
          <p:cNvSpPr/>
          <p:nvPr/>
        </p:nvSpPr>
        <p:spPr>
          <a:xfrm>
            <a:off x="2381759" y="3411496"/>
            <a:ext cx="705658" cy="181389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AE3BB73-408D-50B7-1E3A-7258F0445370}"/>
              </a:ext>
            </a:extLst>
          </p:cNvPr>
          <p:cNvSpPr/>
          <p:nvPr/>
        </p:nvSpPr>
        <p:spPr>
          <a:xfrm>
            <a:off x="4605154" y="3411495"/>
            <a:ext cx="2822780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4" name="Picture 2" descr="connect, direction, path, way ">
            <a:extLst>
              <a:ext uri="{FF2B5EF4-FFF2-40B4-BE49-F238E27FC236}">
                <a16:creationId xmlns:a16="http://schemas.microsoft.com/office/drawing/2014/main" id="{46136642-5327-95DC-C48A-4ED43E3C5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187" y="3227790"/>
            <a:ext cx="559434" cy="55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Arrow 37">
            <a:extLst>
              <a:ext uri="{FF2B5EF4-FFF2-40B4-BE49-F238E27FC236}">
                <a16:creationId xmlns:a16="http://schemas.microsoft.com/office/drawing/2014/main" id="{441E9FA9-CDED-9A27-1539-70483985F8C1}"/>
              </a:ext>
            </a:extLst>
          </p:cNvPr>
          <p:cNvSpPr/>
          <p:nvPr/>
        </p:nvSpPr>
        <p:spPr>
          <a:xfrm>
            <a:off x="9333491" y="3429000"/>
            <a:ext cx="1307975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C83D20-FC0A-0F7C-E595-0AE78022BA19}"/>
              </a:ext>
            </a:extLst>
          </p:cNvPr>
          <p:cNvSpPr txBox="1"/>
          <p:nvPr/>
        </p:nvSpPr>
        <p:spPr>
          <a:xfrm>
            <a:off x="10641466" y="3890904"/>
            <a:ext cx="88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Slices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6" name="Picture 4" descr="request, doubt, how, ask, guess, bubble, faq ">
            <a:extLst>
              <a:ext uri="{FF2B5EF4-FFF2-40B4-BE49-F238E27FC236}">
                <a16:creationId xmlns:a16="http://schemas.microsoft.com/office/drawing/2014/main" id="{595E65CB-2B1D-68B2-6EB9-611DFEFC7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553" y="4444520"/>
            <a:ext cx="465476" cy="46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ight Arrow 39">
            <a:extLst>
              <a:ext uri="{FF2B5EF4-FFF2-40B4-BE49-F238E27FC236}">
                <a16:creationId xmlns:a16="http://schemas.microsoft.com/office/drawing/2014/main" id="{50FA7862-8B4C-B0B6-2132-A02343ED6625}"/>
              </a:ext>
            </a:extLst>
          </p:cNvPr>
          <p:cNvSpPr/>
          <p:nvPr/>
        </p:nvSpPr>
        <p:spPr>
          <a:xfrm rot="16200000">
            <a:off x="8173082" y="4033155"/>
            <a:ext cx="465477" cy="13913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031A89-35A9-972B-08F2-9DDB607DF6CB}"/>
              </a:ext>
            </a:extLst>
          </p:cNvPr>
          <p:cNvSpPr txBox="1"/>
          <p:nvPr/>
        </p:nvSpPr>
        <p:spPr>
          <a:xfrm>
            <a:off x="7538026" y="4923866"/>
            <a:ext cx="188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Slicing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Request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8" name="Picture 6" descr="tree-sitter · GitHub">
            <a:extLst>
              <a:ext uri="{FF2B5EF4-FFF2-40B4-BE49-F238E27FC236}">
                <a16:creationId xmlns:a16="http://schemas.microsoft.com/office/drawing/2014/main" id="{1F473677-DC83-2F78-946B-E7C6C884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95" y="1801011"/>
            <a:ext cx="669110" cy="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Up-down Arrow 41">
            <a:extLst>
              <a:ext uri="{FF2B5EF4-FFF2-40B4-BE49-F238E27FC236}">
                <a16:creationId xmlns:a16="http://schemas.microsoft.com/office/drawing/2014/main" id="{9353DFC5-E008-E96C-2EC3-752B615AAD71}"/>
              </a:ext>
            </a:extLst>
          </p:cNvPr>
          <p:cNvSpPr/>
          <p:nvPr/>
        </p:nvSpPr>
        <p:spPr>
          <a:xfrm>
            <a:off x="3801533" y="2558022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B7604B-643F-A644-A6B5-54C55544CA5A}"/>
              </a:ext>
            </a:extLst>
          </p:cNvPr>
          <p:cNvSpPr txBox="1"/>
          <p:nvPr/>
        </p:nvSpPr>
        <p:spPr>
          <a:xfrm>
            <a:off x="2714040" y="1431224"/>
            <a:ext cx="27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venir Next LT Pro" panose="020B0504020202020204" pitchFamily="34" charset="77"/>
              </a:rPr>
              <a:t>parsing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library: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Tree-Sitter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60F30C-B1DB-034E-1206-99D2DEF8BA76}"/>
              </a:ext>
            </a:extLst>
          </p:cNvPr>
          <p:cNvSpPr txBox="1"/>
          <p:nvPr/>
        </p:nvSpPr>
        <p:spPr>
          <a:xfrm>
            <a:off x="5372755" y="2452897"/>
            <a:ext cx="7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U6IR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9A297D-106E-F541-E9F6-DBB61779766F}"/>
              </a:ext>
            </a:extLst>
          </p:cNvPr>
          <p:cNvSpPr txBox="1"/>
          <p:nvPr/>
        </p:nvSpPr>
        <p:spPr>
          <a:xfrm>
            <a:off x="4862905" y="2806671"/>
            <a:ext cx="2351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Call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Function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meta-data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C67C939-ED60-E3F3-111A-6236B6E2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95" y="3366290"/>
            <a:ext cx="617478" cy="64370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6BD8F1-6185-525E-4C6D-F12458D2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34" y="2927618"/>
            <a:ext cx="617478" cy="6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6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EF4E-1FB2-4292-6974-24463728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F4F14-8C15-B44D-7B09-8BC0447D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8772EC-DDF3-8AC0-770D-515DCC8F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D2FF2-FF4E-55FC-E287-015CF2E5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A0A9AF-478D-153A-DA5C-DF61CC9EE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59435"/>
          </a:xfrm>
        </p:spPr>
        <p:txBody>
          <a:bodyPr/>
          <a:lstStyle/>
          <a:p>
            <a:r>
              <a:rPr lang="en-US" altLang="zh-CN" dirty="0"/>
              <a:t>Installation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7DCB3-6C8F-C025-1421-B986F612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B7CA0B-20BE-70A4-9112-2E0D127D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27ADA-FA16-6DBC-0508-63E330AE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7035"/>
            <a:ext cx="7772400" cy="43510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67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65B9-0630-1E71-5348-ECA44080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48E8EB-A9CE-319C-EAA4-47E9B7BD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7169"/>
          </a:xfrm>
        </p:spPr>
        <p:txBody>
          <a:bodyPr/>
          <a:lstStyle/>
          <a:p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</a:p>
          <a:p>
            <a:pPr lvl="1"/>
            <a:r>
              <a:rPr lang="en-HK" dirty="0"/>
              <a:t>We prepare three example project</a:t>
            </a:r>
            <a:r>
              <a:rPr lang="en-US" altLang="zh-CN" dirty="0"/>
              <a:t>s</a:t>
            </a:r>
            <a:r>
              <a:rPr lang="en-HK" dirty="0"/>
              <a:t> in </a:t>
            </a:r>
            <a:r>
              <a:rPr lang="en-HK" i="1" dirty="0"/>
              <a:t>benchmark/</a:t>
            </a:r>
            <a:r>
              <a:rPr lang="en-HK" i="1" dirty="0" err="1"/>
              <a:t>Cpp</a:t>
            </a:r>
            <a:r>
              <a:rPr lang="en-HK" i="1" dirty="0"/>
              <a:t>/slice</a:t>
            </a:r>
          </a:p>
          <a:p>
            <a:pPr lvl="1"/>
            <a:r>
              <a:rPr lang="en-HK" dirty="0"/>
              <a:t>Test the framework with the provided example projects:</a:t>
            </a:r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endParaRPr lang="en-HK" i="1" dirty="0"/>
          </a:p>
          <a:p>
            <a:pPr lvl="1"/>
            <a:r>
              <a:rPr lang="en-HK" dirty="0"/>
              <a:t>After analysis, results will be available in</a:t>
            </a:r>
          </a:p>
          <a:p>
            <a:pPr lvl="2"/>
            <a:r>
              <a:rPr lang="en-HK" dirty="0"/>
              <a:t>Log files: </a:t>
            </a:r>
            <a:r>
              <a:rPr lang="en-HK" i="1" dirty="0"/>
              <a:t>log/</a:t>
            </a:r>
            <a:r>
              <a:rPr lang="en-HK" i="1" dirty="0" err="1"/>
              <a:t>SliceScanAgent</a:t>
            </a:r>
            <a:r>
              <a:rPr lang="en-HK" i="1" dirty="0"/>
              <a:t>/</a:t>
            </a:r>
          </a:p>
          <a:p>
            <a:pPr lvl="2"/>
            <a:r>
              <a:rPr lang="en-HK" dirty="0"/>
              <a:t>Result files: </a:t>
            </a:r>
            <a:r>
              <a:rPr lang="en-HK" i="1" dirty="0"/>
              <a:t>result/</a:t>
            </a:r>
            <a:r>
              <a:rPr lang="en-HK" i="1" dirty="0" err="1"/>
              <a:t>SliceScanAgent</a:t>
            </a:r>
            <a:r>
              <a:rPr lang="en-HK" i="1" dirty="0"/>
              <a:t>/</a:t>
            </a:r>
          </a:p>
          <a:p>
            <a:pPr lvl="2"/>
            <a:endParaRPr lang="en-US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58F57-AAAD-D7AB-FF89-6A9A9398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6A0056-831C-C12C-CB00-73202514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Installation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Quick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84992-C50D-D180-CC32-5C17521A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8749"/>
            <a:ext cx="7772400" cy="14878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652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6282C-745A-3019-BF04-180EC8F1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756A05-4224-71C0-7F77-75184564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B9E1FD-B653-A752-953C-9AA7B410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64943-2F59-2BB9-6E91-8FC7F1ED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1377-7FAC-E613-14AC-15140A72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2A8825-5816-32C9-1C55-ED7F7D1D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1"/>
            <a:ext cx="10515600" cy="5021942"/>
          </a:xfrm>
        </p:spPr>
        <p:txBody>
          <a:bodyPr/>
          <a:lstStyle/>
          <a:p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worklist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collect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backward/forward</a:t>
            </a:r>
            <a:r>
              <a:rPr lang="zh-CN" altLang="en-US" dirty="0"/>
              <a:t> </a:t>
            </a:r>
            <a:r>
              <a:rPr lang="en-US" altLang="zh-CN" dirty="0"/>
              <a:t>slices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repository</a:t>
            </a:r>
          </a:p>
          <a:p>
            <a:pPr lvl="1"/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engineering: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backward/forward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Symbolic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worklist</a:t>
            </a:r>
            <a:r>
              <a:rPr lang="zh-CN" altLang="en-US" dirty="0"/>
              <a:t> </a:t>
            </a:r>
            <a:r>
              <a:rPr lang="en-US" altLang="zh-CN" dirty="0"/>
              <a:t>iteration</a:t>
            </a:r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7F576F-A2D6-8773-290D-758329F4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DB9462-A592-F2D7-0557-A2FDC989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76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F295EC-39E1-F8ED-300A-123AD76B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1"/>
            <a:ext cx="10515600" cy="1477328"/>
          </a:xfrm>
        </p:spPr>
        <p:txBody>
          <a:bodyPr/>
          <a:lstStyle/>
          <a:p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parameter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jump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C90400-3ED3-997A-9633-6302C8EA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9F0848-F957-4749-6838-9642DF94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7CB31-CBEA-8A63-AF4D-97BE1BE61F49}"/>
              </a:ext>
            </a:extLst>
          </p:cNvPr>
          <p:cNvSpPr txBox="1"/>
          <p:nvPr/>
        </p:nvSpPr>
        <p:spPr>
          <a:xfrm>
            <a:off x="2024008" y="3349750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a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x</a:t>
            </a:r>
            <a:r>
              <a:rPr lang="en-US" altLang="zh-CN" dirty="0">
                <a:latin typeface="Avenir Next LT Pro" panose="020B0504020202020204" pitchFamily="34" charset="77"/>
              </a:rPr>
              <a:t>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AFC04-4359-07AF-7CCA-43156792F0B2}"/>
              </a:ext>
            </a:extLst>
          </p:cNvPr>
          <p:cNvSpPr txBox="1"/>
          <p:nvPr/>
        </p:nvSpPr>
        <p:spPr>
          <a:xfrm>
            <a:off x="6193602" y="242027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y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9D8D2-98CB-CC4D-6C35-3F9EB6062CAE}"/>
              </a:ext>
            </a:extLst>
          </p:cNvPr>
          <p:cNvSpPr txBox="1"/>
          <p:nvPr/>
        </p:nvSpPr>
        <p:spPr>
          <a:xfrm>
            <a:off x="6193603" y="4413996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 err="1">
                <a:latin typeface="Avenir Next LT Pro" panose="020B0504020202020204" pitchFamily="34" charset="77"/>
              </a:rPr>
              <a:t>hoo</a:t>
            </a:r>
            <a:r>
              <a:rPr lang="en-US" altLang="zh-CN" dirty="0">
                <a:latin typeface="Avenir Next LT Pro" panose="020B0504020202020204" pitchFamily="34" charset="77"/>
              </a:rPr>
              <a:t>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u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u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-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z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5061DE-2E02-C933-D197-CB380DA1270D}"/>
              </a:ext>
            </a:extLst>
          </p:cNvPr>
          <p:cNvCxnSpPr/>
          <p:nvPr/>
        </p:nvCxnSpPr>
        <p:spPr>
          <a:xfrm flipV="1">
            <a:off x="4202130" y="3254342"/>
            <a:ext cx="1991472" cy="643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C96D22-FC53-459E-B036-600BE86E7068}"/>
              </a:ext>
            </a:extLst>
          </p:cNvPr>
          <p:cNvCxnSpPr>
            <a:cxnSpLocks/>
          </p:cNvCxnSpPr>
          <p:nvPr/>
        </p:nvCxnSpPr>
        <p:spPr>
          <a:xfrm>
            <a:off x="4202130" y="3897599"/>
            <a:ext cx="1797977" cy="1024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6A89C0-AB25-F940-C1BF-A61FC8964C19}"/>
              </a:ext>
            </a:extLst>
          </p:cNvPr>
          <p:cNvSpPr txBox="1"/>
          <p:nvPr/>
        </p:nvSpPr>
        <p:spPr>
          <a:xfrm>
            <a:off x="2207230" y="5152660"/>
            <a:ext cx="173804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A9E562-44FC-5D03-FECA-E6787354AFFE}"/>
              </a:ext>
            </a:extLst>
          </p:cNvPr>
          <p:cNvSpPr txBox="1"/>
          <p:nvPr/>
        </p:nvSpPr>
        <p:spPr>
          <a:xfrm>
            <a:off x="6387099" y="5948884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EACED25-DF69-7477-8744-436B8FE2CD8B}"/>
              </a:ext>
            </a:extLst>
          </p:cNvPr>
          <p:cNvSpPr/>
          <p:nvPr/>
        </p:nvSpPr>
        <p:spPr>
          <a:xfrm>
            <a:off x="3339101" y="3791167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06824BCA-C6C5-5419-C998-4E3332926172}"/>
              </a:ext>
            </a:extLst>
          </p:cNvPr>
          <p:cNvSpPr/>
          <p:nvPr/>
        </p:nvSpPr>
        <p:spPr>
          <a:xfrm>
            <a:off x="7488347" y="2819888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0B38B142-A334-8827-DACF-22CA3C2380F4}"/>
              </a:ext>
            </a:extLst>
          </p:cNvPr>
          <p:cNvSpPr/>
          <p:nvPr/>
        </p:nvSpPr>
        <p:spPr>
          <a:xfrm>
            <a:off x="7458381" y="4787557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FE4F71-CF2B-6EBC-4941-4A292A2296A1}"/>
              </a:ext>
            </a:extLst>
          </p:cNvPr>
          <p:cNvCxnSpPr>
            <a:cxnSpLocks/>
          </p:cNvCxnSpPr>
          <p:nvPr/>
        </p:nvCxnSpPr>
        <p:spPr>
          <a:xfrm>
            <a:off x="8219324" y="3072017"/>
            <a:ext cx="10888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5E3482-6AEC-1C7B-CDB1-A4186B2FA917}"/>
              </a:ext>
            </a:extLst>
          </p:cNvPr>
          <p:cNvCxnSpPr>
            <a:cxnSpLocks/>
          </p:cNvCxnSpPr>
          <p:nvPr/>
        </p:nvCxnSpPr>
        <p:spPr>
          <a:xfrm>
            <a:off x="8219324" y="4922486"/>
            <a:ext cx="10888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8DCD66-F4C6-7545-E116-DC7347F2664B}"/>
              </a:ext>
            </a:extLst>
          </p:cNvPr>
          <p:cNvSpPr txBox="1"/>
          <p:nvPr/>
        </p:nvSpPr>
        <p:spPr>
          <a:xfrm>
            <a:off x="9554966" y="2769560"/>
            <a:ext cx="97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…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D6CB1-6D43-B741-041B-F8149E929442}"/>
              </a:ext>
            </a:extLst>
          </p:cNvPr>
          <p:cNvSpPr txBox="1"/>
          <p:nvPr/>
        </p:nvSpPr>
        <p:spPr>
          <a:xfrm>
            <a:off x="9554965" y="4644763"/>
            <a:ext cx="97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…</a:t>
            </a:r>
            <a:endParaRPr lang="en-US" sz="24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03B85A-F283-3D3B-D2F8-F4EC06D6CB33}"/>
              </a:ext>
            </a:extLst>
          </p:cNvPr>
          <p:cNvSpPr/>
          <p:nvPr/>
        </p:nvSpPr>
        <p:spPr>
          <a:xfrm>
            <a:off x="3000054" y="3347768"/>
            <a:ext cx="522268" cy="34799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C4AAA6-571C-C92B-E6C7-1417A167A463}"/>
              </a:ext>
            </a:extLst>
          </p:cNvPr>
          <p:cNvSpPr txBox="1"/>
          <p:nvPr/>
        </p:nvSpPr>
        <p:spPr>
          <a:xfrm>
            <a:off x="2672339" y="3010205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parameter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9C2E2F-8372-1946-0A38-79B9423121A0}"/>
              </a:ext>
            </a:extLst>
          </p:cNvPr>
          <p:cNvSpPr txBox="1"/>
          <p:nvPr/>
        </p:nvSpPr>
        <p:spPr>
          <a:xfrm>
            <a:off x="6460280" y="3633305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28F6DB-0CEE-C287-FB6B-2ADF1224E664}"/>
              </a:ext>
            </a:extLst>
          </p:cNvPr>
          <p:cNvSpPr/>
          <p:nvPr/>
        </p:nvSpPr>
        <p:spPr>
          <a:xfrm>
            <a:off x="6787995" y="3254342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31FD0-5754-B6B1-0D24-E55C9B25604E}"/>
              </a:ext>
            </a:extLst>
          </p:cNvPr>
          <p:cNvSpPr txBox="1"/>
          <p:nvPr/>
        </p:nvSpPr>
        <p:spPr>
          <a:xfrm>
            <a:off x="6460280" y="5639088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57658EE-FD03-AFD5-A08A-DF706942A0C9}"/>
              </a:ext>
            </a:extLst>
          </p:cNvPr>
          <p:cNvSpPr/>
          <p:nvPr/>
        </p:nvSpPr>
        <p:spPr>
          <a:xfrm>
            <a:off x="6787995" y="5260125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2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2" grpId="0" animBg="1"/>
      <p:bldP spid="23" grpId="0" animBg="1"/>
      <p:bldP spid="24" grpId="0" animBg="1"/>
      <p:bldP spid="25" grpId="0" animBg="1"/>
      <p:bldP spid="26" grpId="0" animBg="1"/>
      <p:bldP spid="34" grpId="0"/>
      <p:bldP spid="35" grpId="0"/>
      <p:bldP spid="36" grpId="0" animBg="1"/>
      <p:bldP spid="37" grpId="0"/>
      <p:bldP spid="38" grpId="0"/>
      <p:bldP spid="39" grpId="0" animBg="1"/>
      <p:bldP spid="40" grpId="0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D88865-91E0-CB97-547D-EF3F982B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output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return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5F8F1-F34F-A850-06D2-F23530A8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64D568-7C06-51A6-01F9-70068E90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4D601-FA0F-9FF1-A297-B1AF777F77F8}"/>
              </a:ext>
            </a:extLst>
          </p:cNvPr>
          <p:cNvSpPr txBox="1"/>
          <p:nvPr/>
        </p:nvSpPr>
        <p:spPr>
          <a:xfrm>
            <a:off x="2363055" y="3247008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x</a:t>
            </a:r>
            <a:r>
              <a:rPr lang="en-US" altLang="zh-CN" dirty="0">
                <a:latin typeface="Avenir Next LT Pro" panose="020B0504020202020204" pitchFamily="34" charset="77"/>
              </a:rPr>
              <a:t>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39C02-E61F-940F-2A69-5FE15A96CDA7}"/>
              </a:ext>
            </a:extLst>
          </p:cNvPr>
          <p:cNvSpPr txBox="1"/>
          <p:nvPr/>
        </p:nvSpPr>
        <p:spPr>
          <a:xfrm>
            <a:off x="7608869" y="3166167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en-US" altLang="zh-CN" dirty="0">
                <a:latin typeface="Avenir Next LT Pro" panose="020B0504020202020204" pitchFamily="34" charset="77"/>
              </a:rPr>
              <a:t>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return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z;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D5F080-F629-6A51-B6C7-91CB1AB5BAFE}"/>
              </a:ext>
            </a:extLst>
          </p:cNvPr>
          <p:cNvCxnSpPr>
            <a:cxnSpLocks/>
          </p:cNvCxnSpPr>
          <p:nvPr/>
        </p:nvCxnSpPr>
        <p:spPr>
          <a:xfrm>
            <a:off x="5187839" y="3908525"/>
            <a:ext cx="2260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45182E-24FA-27D0-54A6-EC824ED944E3}"/>
              </a:ext>
            </a:extLst>
          </p:cNvPr>
          <p:cNvSpPr txBox="1"/>
          <p:nvPr/>
        </p:nvSpPr>
        <p:spPr>
          <a:xfrm>
            <a:off x="2669567" y="4952396"/>
            <a:ext cx="166612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22A03-6F35-D0AA-692E-C0396E896ADB}"/>
              </a:ext>
            </a:extLst>
          </p:cNvPr>
          <p:cNvSpPr txBox="1"/>
          <p:nvPr/>
        </p:nvSpPr>
        <p:spPr>
          <a:xfrm>
            <a:off x="7726388" y="4865986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482915-5E29-7A54-B61C-F02625632489}"/>
              </a:ext>
            </a:extLst>
          </p:cNvPr>
          <p:cNvSpPr/>
          <p:nvPr/>
        </p:nvSpPr>
        <p:spPr>
          <a:xfrm>
            <a:off x="3406940" y="4046956"/>
            <a:ext cx="386587" cy="347991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15DD8B3-E1CF-1A89-059E-CC03024BBC81}"/>
              </a:ext>
            </a:extLst>
          </p:cNvPr>
          <p:cNvSpPr/>
          <p:nvPr/>
        </p:nvSpPr>
        <p:spPr>
          <a:xfrm>
            <a:off x="8903614" y="3565784"/>
            <a:ext cx="386587" cy="678094"/>
          </a:xfrm>
          <a:custGeom>
            <a:avLst/>
            <a:gdLst>
              <a:gd name="connsiteX0" fmla="*/ 0 w 386587"/>
              <a:gd name="connsiteY0" fmla="*/ 678094 h 678094"/>
              <a:gd name="connsiteX1" fmla="*/ 369870 w 386587"/>
              <a:gd name="connsiteY1" fmla="*/ 513708 h 678094"/>
              <a:gd name="connsiteX2" fmla="*/ 328773 w 386587"/>
              <a:gd name="connsiteY2" fmla="*/ 0 h 67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587" h="678094">
                <a:moveTo>
                  <a:pt x="0" y="678094"/>
                </a:moveTo>
                <a:cubicBezTo>
                  <a:pt x="157537" y="652409"/>
                  <a:pt x="315074" y="626724"/>
                  <a:pt x="369870" y="513708"/>
                </a:cubicBezTo>
                <a:cubicBezTo>
                  <a:pt x="424666" y="400692"/>
                  <a:pt x="327061" y="87330"/>
                  <a:pt x="328773" y="0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37CECB-1999-7F02-F329-788C01DFE582}"/>
              </a:ext>
            </a:extLst>
          </p:cNvPr>
          <p:cNvSpPr txBox="1"/>
          <p:nvPr/>
        </p:nvSpPr>
        <p:spPr>
          <a:xfrm>
            <a:off x="8051509" y="4348045"/>
            <a:ext cx="1517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return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06E30E-6F01-7126-7E64-8216E7DA75BD}"/>
              </a:ext>
            </a:extLst>
          </p:cNvPr>
          <p:cNvSpPr/>
          <p:nvPr/>
        </p:nvSpPr>
        <p:spPr>
          <a:xfrm>
            <a:off x="8509141" y="4000238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4174FCD-8B52-20E9-FB2D-9D0F5AFB43B3}"/>
              </a:ext>
            </a:extLst>
          </p:cNvPr>
          <p:cNvSpPr/>
          <p:nvPr/>
        </p:nvSpPr>
        <p:spPr>
          <a:xfrm>
            <a:off x="2948569" y="3811317"/>
            <a:ext cx="844957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F4CC9D-BD36-21AA-0A65-DBBA76B3356B}"/>
              </a:ext>
            </a:extLst>
          </p:cNvPr>
          <p:cNvSpPr txBox="1"/>
          <p:nvPr/>
        </p:nvSpPr>
        <p:spPr>
          <a:xfrm>
            <a:off x="3793526" y="3962140"/>
            <a:ext cx="139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output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798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 animBg="1"/>
      <p:bldP spid="11" grpId="0" animBg="1"/>
      <p:bldP spid="12" grpId="0" animBg="1"/>
      <p:bldP spid="13" grpId="0" animBg="1"/>
      <p:bldP spid="21" grpId="0"/>
      <p:bldP spid="22" grpId="0" animBg="1"/>
      <p:bldP spid="27" grpId="0" animBg="1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0425-B42E-95CF-B3A6-88BA0C2B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6D7A3-2188-43BA-7530-942785078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affects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expression,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callee</a:t>
            </a:r>
            <a:r>
              <a:rPr lang="zh-CN" altLang="en-US" dirty="0"/>
              <a:t> </a:t>
            </a:r>
            <a:r>
              <a:rPr lang="en-US" altLang="zh-CN" dirty="0"/>
              <a:t>function.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A6EA0-C70A-5734-CED6-D009EA63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CA0872-4330-B993-6097-8AD41715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7363C-BB77-F00E-2C46-A30695D162C6}"/>
              </a:ext>
            </a:extLst>
          </p:cNvPr>
          <p:cNvSpPr txBox="1"/>
          <p:nvPr/>
        </p:nvSpPr>
        <p:spPr>
          <a:xfrm>
            <a:off x="2377610" y="3118914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foo(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y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4454D-7520-F494-1B6F-8624232527D3}"/>
              </a:ext>
            </a:extLst>
          </p:cNvPr>
          <p:cNvSpPr txBox="1"/>
          <p:nvPr/>
        </p:nvSpPr>
        <p:spPr>
          <a:xfrm>
            <a:off x="7300645" y="3128763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a</a:t>
            </a:r>
            <a:r>
              <a:rPr lang="en-US" altLang="zh-CN" dirty="0">
                <a:latin typeface="Avenir Next LT Pro" panose="020B0504020202020204" pitchFamily="34" charset="77"/>
              </a:rPr>
              <a:t>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 err="1">
                <a:latin typeface="Avenir Next LT Pro" panose="020B0504020202020204" pitchFamily="34" charset="77"/>
              </a:rPr>
              <a:t>hoo</a:t>
            </a:r>
            <a:r>
              <a:rPr lang="en-US" altLang="zh-CN" dirty="0">
                <a:latin typeface="Avenir Next LT Pro" panose="020B0504020202020204" pitchFamily="34" charset="77"/>
              </a:rPr>
              <a:t>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print(x);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6783C0-44FE-779E-F3B6-A9FD97DAA07B}"/>
              </a:ext>
            </a:extLst>
          </p:cNvPr>
          <p:cNvCxnSpPr>
            <a:cxnSpLocks/>
          </p:cNvCxnSpPr>
          <p:nvPr/>
        </p:nvCxnSpPr>
        <p:spPr>
          <a:xfrm>
            <a:off x="4741770" y="3795509"/>
            <a:ext cx="2260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969CA88B-41A0-F0AD-F1DC-57D05AFC400F}"/>
              </a:ext>
            </a:extLst>
          </p:cNvPr>
          <p:cNvSpPr/>
          <p:nvPr/>
        </p:nvSpPr>
        <p:spPr>
          <a:xfrm>
            <a:off x="3708971" y="3760341"/>
            <a:ext cx="187226" cy="431515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CA3EC-D615-1652-D9CB-EC0200925D78}"/>
              </a:ext>
            </a:extLst>
          </p:cNvPr>
          <p:cNvSpPr txBox="1"/>
          <p:nvPr/>
        </p:nvSpPr>
        <p:spPr>
          <a:xfrm>
            <a:off x="2639218" y="4354622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argument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B6449A-732A-7869-FFD7-EEB5206FA989}"/>
              </a:ext>
            </a:extLst>
          </p:cNvPr>
          <p:cNvSpPr/>
          <p:nvPr/>
        </p:nvSpPr>
        <p:spPr>
          <a:xfrm>
            <a:off x="2966933" y="3975659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C4FA4-67D7-9932-8837-3BC2C25E8726}"/>
              </a:ext>
            </a:extLst>
          </p:cNvPr>
          <p:cNvSpPr txBox="1"/>
          <p:nvPr/>
        </p:nvSpPr>
        <p:spPr>
          <a:xfrm>
            <a:off x="8065868" y="2842761"/>
            <a:ext cx="1177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parameter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09F591-2989-DBCE-7F12-B26F71849490}"/>
              </a:ext>
            </a:extLst>
          </p:cNvPr>
          <p:cNvSpPr/>
          <p:nvPr/>
        </p:nvSpPr>
        <p:spPr>
          <a:xfrm>
            <a:off x="8574910" y="3149910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BB56297-D7A4-32E8-3397-1DE39380D5D4}"/>
              </a:ext>
            </a:extLst>
          </p:cNvPr>
          <p:cNvSpPr/>
          <p:nvPr/>
        </p:nvSpPr>
        <p:spPr>
          <a:xfrm>
            <a:off x="9683823" y="3292858"/>
            <a:ext cx="261134" cy="692140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5F5FC-7DFF-6C8B-A0DA-1A8F15E3D675}"/>
              </a:ext>
            </a:extLst>
          </p:cNvPr>
          <p:cNvSpPr txBox="1"/>
          <p:nvPr/>
        </p:nvSpPr>
        <p:spPr>
          <a:xfrm>
            <a:off x="2669567" y="4952396"/>
            <a:ext cx="166612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6669FE-7538-E199-5469-3109E7BD98B2}"/>
              </a:ext>
            </a:extLst>
          </p:cNvPr>
          <p:cNvSpPr txBox="1"/>
          <p:nvPr/>
        </p:nvSpPr>
        <p:spPr>
          <a:xfrm>
            <a:off x="7726388" y="4865986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3744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2185-1B34-9EA7-577C-49E9F8CA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9AF804-531B-6CB8-9DBA-1BFF7A03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pPr lvl="1"/>
            <a:r>
              <a:rPr lang="en-US" altLang="zh-CN" dirty="0"/>
              <a:t>Rule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affects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return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function,</a:t>
            </a:r>
            <a:r>
              <a:rPr lang="zh-CN" altLang="en-US" dirty="0"/>
              <a:t> </a:t>
            </a:r>
            <a:r>
              <a:rPr lang="en-US" altLang="zh-CN" dirty="0"/>
              <a:t>jump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expression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output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en-US" altLang="zh-CN" dirty="0"/>
              <a:t>)</a:t>
            </a:r>
            <a:r>
              <a:rPr lang="zh-CN" altLang="en-US" dirty="0"/>
              <a:t> 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9876D3-C011-E94F-04D7-189FC874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A1C48B-BB6E-1A21-F2C5-923FEADD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47A24-6E80-3ACC-A288-5243DF959135}"/>
              </a:ext>
            </a:extLst>
          </p:cNvPr>
          <p:cNvSpPr txBox="1"/>
          <p:nvPr/>
        </p:nvSpPr>
        <p:spPr>
          <a:xfrm>
            <a:off x="2451242" y="329973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goo(int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w)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z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w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return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z;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EC3FF-702D-2397-3A65-50FCB29685FA}"/>
              </a:ext>
            </a:extLst>
          </p:cNvPr>
          <p:cNvSpPr txBox="1"/>
          <p:nvPr/>
        </p:nvSpPr>
        <p:spPr>
          <a:xfrm>
            <a:off x="7479585" y="3299731"/>
            <a:ext cx="2681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77"/>
              </a:rPr>
              <a:t>void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foo(int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a,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int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b)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{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…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venir Next LT Pro" panose="020B0504020202020204" pitchFamily="34" charset="77"/>
              </a:rPr>
              <a:t>goo(a)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zh-CN" altLang="en-US" dirty="0">
                <a:latin typeface="Avenir Next LT Pro" panose="020B0504020202020204" pitchFamily="34" charset="77"/>
              </a:rPr>
              <a:t>   </a:t>
            </a:r>
            <a:r>
              <a:rPr lang="en-US" altLang="zh-CN" dirty="0">
                <a:latin typeface="Avenir Next LT Pro" panose="020B0504020202020204" pitchFamily="34" charset="77"/>
              </a:rPr>
              <a:t>y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=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x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+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1;</a:t>
            </a:r>
          </a:p>
          <a:p>
            <a:r>
              <a:rPr lang="en-US" altLang="zh-CN" dirty="0">
                <a:latin typeface="Avenir Next LT Pro" panose="020B0504020202020204" pitchFamily="34" charset="77"/>
              </a:rPr>
              <a:t>}</a:t>
            </a:r>
            <a:endParaRPr lang="en-US" dirty="0">
              <a:latin typeface="Avenir Next LT Pro" panose="020B0504020202020204" pitchFamily="34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BF3808-9FC4-1AF0-F7BF-32388853CFC4}"/>
              </a:ext>
            </a:extLst>
          </p:cNvPr>
          <p:cNvCxnSpPr>
            <a:cxnSpLocks/>
          </p:cNvCxnSpPr>
          <p:nvPr/>
        </p:nvCxnSpPr>
        <p:spPr>
          <a:xfrm>
            <a:off x="4505464" y="3929073"/>
            <a:ext cx="2583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A53070-D74D-D345-0D23-3FA00C93054E}"/>
              </a:ext>
            </a:extLst>
          </p:cNvPr>
          <p:cNvSpPr txBox="1"/>
          <p:nvPr/>
        </p:nvSpPr>
        <p:spPr>
          <a:xfrm>
            <a:off x="2914085" y="4528199"/>
            <a:ext cx="1367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return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6A116C-7A13-A39F-C836-8410FFDA0F37}"/>
              </a:ext>
            </a:extLst>
          </p:cNvPr>
          <p:cNvSpPr/>
          <p:nvPr/>
        </p:nvSpPr>
        <p:spPr>
          <a:xfrm>
            <a:off x="3336803" y="4129031"/>
            <a:ext cx="261134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0703BED-E771-7D23-79C8-A721FE70A670}"/>
              </a:ext>
            </a:extLst>
          </p:cNvPr>
          <p:cNvSpPr/>
          <p:nvPr/>
        </p:nvSpPr>
        <p:spPr>
          <a:xfrm>
            <a:off x="3792019" y="4038395"/>
            <a:ext cx="187226" cy="431515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4FD7149-2FC8-BC11-9DEB-E68A97736B05}"/>
              </a:ext>
            </a:extLst>
          </p:cNvPr>
          <p:cNvSpPr/>
          <p:nvPr/>
        </p:nvSpPr>
        <p:spPr>
          <a:xfrm>
            <a:off x="9239679" y="4000311"/>
            <a:ext cx="271836" cy="469599"/>
          </a:xfrm>
          <a:custGeom>
            <a:avLst/>
            <a:gdLst>
              <a:gd name="connsiteX0" fmla="*/ 0 w 187226"/>
              <a:gd name="connsiteY0" fmla="*/ 0 h 431515"/>
              <a:gd name="connsiteX1" fmla="*/ 174661 w 187226"/>
              <a:gd name="connsiteY1" fmla="*/ 102742 h 431515"/>
              <a:gd name="connsiteX2" fmla="*/ 154113 w 187226"/>
              <a:gd name="connsiteY2" fmla="*/ 328773 h 431515"/>
              <a:gd name="connsiteX3" fmla="*/ 0 w 187226"/>
              <a:gd name="connsiteY3" fmla="*/ 431515 h 43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26" h="431515">
                <a:moveTo>
                  <a:pt x="0" y="0"/>
                </a:moveTo>
                <a:cubicBezTo>
                  <a:pt x="74488" y="23973"/>
                  <a:pt x="148976" y="47947"/>
                  <a:pt x="174661" y="102742"/>
                </a:cubicBezTo>
                <a:cubicBezTo>
                  <a:pt x="200347" y="157538"/>
                  <a:pt x="183223" y="273978"/>
                  <a:pt x="154113" y="328773"/>
                </a:cubicBezTo>
                <a:cubicBezTo>
                  <a:pt x="125003" y="383568"/>
                  <a:pt x="62501" y="407541"/>
                  <a:pt x="0" y="431515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8B1026-5835-2766-879D-35D9941AA9FD}"/>
              </a:ext>
            </a:extLst>
          </p:cNvPr>
          <p:cNvSpPr/>
          <p:nvPr/>
        </p:nvSpPr>
        <p:spPr>
          <a:xfrm>
            <a:off x="8024003" y="3843074"/>
            <a:ext cx="844957" cy="378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C0804-3B5E-0D9E-DB55-75ABD7D23930}"/>
              </a:ext>
            </a:extLst>
          </p:cNvPr>
          <p:cNvSpPr txBox="1"/>
          <p:nvPr/>
        </p:nvSpPr>
        <p:spPr>
          <a:xfrm>
            <a:off x="8678441" y="3610148"/>
            <a:ext cx="139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output</a:t>
            </a:r>
            <a:r>
              <a:rPr lang="zh-CN" altLang="en-US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venir Next LT Pro" panose="020B0504020202020204" pitchFamily="34" charset="77"/>
              </a:rPr>
              <a:t>value</a:t>
            </a:r>
            <a:endParaRPr lang="en-US" sz="1600" dirty="0">
              <a:solidFill>
                <a:srgbClr val="FF000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3D4ED-39AF-5CEB-0C7E-32813CC4497E}"/>
              </a:ext>
            </a:extLst>
          </p:cNvPr>
          <p:cNvSpPr txBox="1"/>
          <p:nvPr/>
        </p:nvSpPr>
        <p:spPr>
          <a:xfrm>
            <a:off x="2486248" y="4922261"/>
            <a:ext cx="179604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callee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CA210-44B4-53F7-57FC-887E2F02737B}"/>
              </a:ext>
            </a:extLst>
          </p:cNvPr>
          <p:cNvSpPr txBox="1"/>
          <p:nvPr/>
        </p:nvSpPr>
        <p:spPr>
          <a:xfrm>
            <a:off x="7762328" y="4866753"/>
            <a:ext cx="1832225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venir Next LT Pro" panose="020B0504020202020204" pitchFamily="34" charset="77"/>
              </a:rPr>
              <a:t>caller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function</a:t>
            </a:r>
            <a:endParaRPr lang="en-US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189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4337-8034-4DC8-737A-D8F0E9AB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AD3B66-D124-7335-53E3-A2559AA3C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really</a:t>
            </a:r>
            <a:r>
              <a:rPr lang="zh-CN" altLang="en-US" dirty="0"/>
              <a:t> </a:t>
            </a:r>
            <a:r>
              <a:rPr lang="en-US" altLang="zh-CN" dirty="0"/>
              <a:t>matter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declaration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declaration</a:t>
            </a:r>
          </a:p>
          <a:p>
            <a:pPr lvl="1"/>
            <a:r>
              <a:rPr lang="en-US" altLang="zh-CN" dirty="0"/>
              <a:t>Big</a:t>
            </a:r>
            <a:r>
              <a:rPr lang="zh-CN" altLang="en-US" dirty="0"/>
              <a:t> </a:t>
            </a:r>
            <a:r>
              <a:rPr lang="en-US" altLang="zh-CN" dirty="0"/>
              <a:t>brackets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/>
              <a:t>{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})</a:t>
            </a:r>
          </a:p>
          <a:p>
            <a:pPr lvl="1"/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lines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whitelist</a:t>
            </a:r>
          </a:p>
          <a:p>
            <a:pPr lvl="1"/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ignore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</a:p>
          <a:p>
            <a:pPr lvl="1"/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261D79-83FD-7676-BE9B-1E24BEC8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DDE61-17A3-D560-3C89-7BB04F54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500D829-CAB5-9B80-7FC5-AAD310F60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036" y="1291636"/>
            <a:ext cx="2878094" cy="346883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Blip>
                <a:blip r:embed="rId2"/>
              </a:buBlip>
              <a:defRPr sz="19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17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sz="100" dirty="0">
              <a:latin typeface="Avenir Next LT Pro" panose="020B0504020202020204" pitchFamily="34" charset="77"/>
              <a:ea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void foo (int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a)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2.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int I;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3.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=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4.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int sum=0;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5.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while (I&lt;N)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6.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    sum=add(</a:t>
            </a:r>
            <a:r>
              <a:rPr lang="en-US" altLang="zh-CN" sz="1800" dirty="0" err="1">
                <a:latin typeface="Avenir Next LT Pro" panose="020B0504020202020204" pitchFamily="34" charset="77"/>
                <a:ea typeface="宋体" panose="02010600030101010101" pitchFamily="2" charset="-122"/>
              </a:rPr>
              <a:t>sum,I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7.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      I=add(I,1);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8.    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9.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10.    return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0;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11.</a:t>
            </a:r>
            <a:r>
              <a:rPr lang="zh-CN" altLang="en-US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venir Next LT Pro" panose="020B0504020202020204" pitchFamily="34" charset="77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8D3536-078C-B1A3-CFB8-D472191FE762}"/>
              </a:ext>
            </a:extLst>
          </p:cNvPr>
          <p:cNvSpPr/>
          <p:nvPr/>
        </p:nvSpPr>
        <p:spPr>
          <a:xfrm>
            <a:off x="7843035" y="1378525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B52FC-A2A4-80C4-9CA8-4B60BE43C64C}"/>
              </a:ext>
            </a:extLst>
          </p:cNvPr>
          <p:cNvSpPr/>
          <p:nvPr/>
        </p:nvSpPr>
        <p:spPr>
          <a:xfrm>
            <a:off x="7843035" y="169400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7C8604-2B03-B6EE-20EB-9B6CD84E31BD}"/>
              </a:ext>
            </a:extLst>
          </p:cNvPr>
          <p:cNvSpPr/>
          <p:nvPr/>
        </p:nvSpPr>
        <p:spPr>
          <a:xfrm>
            <a:off x="7843035" y="3498225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849069-5BCF-E23C-003B-56C6BD58125D}"/>
              </a:ext>
            </a:extLst>
          </p:cNvPr>
          <p:cNvSpPr/>
          <p:nvPr/>
        </p:nvSpPr>
        <p:spPr>
          <a:xfrm>
            <a:off x="7843035" y="443452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52FDD1-52FC-4F96-958D-0365CCAC258C}"/>
              </a:ext>
            </a:extLst>
          </p:cNvPr>
          <p:cNvSpPr/>
          <p:nvPr/>
        </p:nvSpPr>
        <p:spPr>
          <a:xfrm>
            <a:off x="7843035" y="3846921"/>
            <a:ext cx="2878094" cy="284854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1D3E-4445-659F-178A-C48AB1F0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CA6C7159-45D5-3E31-836E-AA2016FF4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95" y="3377495"/>
            <a:ext cx="617478" cy="6437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76CA3-CE45-C940-F613-AB79A4B2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F2CE4A-98EC-52E7-C56F-1BAB1D7E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  <p:pic>
        <p:nvPicPr>
          <p:cNvPr id="8" name="Picture 8" descr="Llm Images – Browse 31,603 Stock Photos, Vectors, and Video | Adobe Stock">
            <a:extLst>
              <a:ext uri="{FF2B5EF4-FFF2-40B4-BE49-F238E27FC236}">
                <a16:creationId xmlns:a16="http://schemas.microsoft.com/office/drawing/2014/main" id="{9F11B880-43FA-A18E-3C13-E75A1E25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46" y="1693194"/>
            <a:ext cx="12192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588D45-7AEB-1D19-0BEE-840AB17A47F1}"/>
              </a:ext>
            </a:extLst>
          </p:cNvPr>
          <p:cNvSpPr/>
          <p:nvPr/>
        </p:nvSpPr>
        <p:spPr>
          <a:xfrm>
            <a:off x="7538026" y="3191368"/>
            <a:ext cx="1736743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altLang="zh-CN" sz="1600" dirty="0" err="1">
                <a:latin typeface="Avenir Next LT Pro" panose="020B0504020202020204" pitchFamily="34" charset="77"/>
              </a:rPr>
              <a:t>SliceScan</a:t>
            </a:r>
            <a:r>
              <a:rPr lang="en-US" altLang="zh-CN" sz="1600" dirty="0">
                <a:latin typeface="Avenir Next LT Pro" panose="020B0504020202020204" pitchFamily="34" charset="77"/>
              </a:rPr>
              <a:t>Agent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A580FD-0237-ADF6-A011-B435860A85AB}"/>
              </a:ext>
            </a:extLst>
          </p:cNvPr>
          <p:cNvSpPr/>
          <p:nvPr/>
        </p:nvSpPr>
        <p:spPr>
          <a:xfrm>
            <a:off x="3172419" y="3191368"/>
            <a:ext cx="1366662" cy="621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venir Next LT Pro" panose="020B0504020202020204" pitchFamily="34" charset="77"/>
              </a:rPr>
              <a:t>TS-Analyzer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20" name="Up-down Arrow 19">
            <a:extLst>
              <a:ext uri="{FF2B5EF4-FFF2-40B4-BE49-F238E27FC236}">
                <a16:creationId xmlns:a16="http://schemas.microsoft.com/office/drawing/2014/main" id="{AF8A7485-BD4A-E8FE-D1B5-526F61E22B3C}"/>
              </a:ext>
            </a:extLst>
          </p:cNvPr>
          <p:cNvSpPr/>
          <p:nvPr/>
        </p:nvSpPr>
        <p:spPr>
          <a:xfrm>
            <a:off x="8297522" y="2559864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323DF680-6BF6-6854-9164-98332EFBE67D}"/>
              </a:ext>
            </a:extLst>
          </p:cNvPr>
          <p:cNvSpPr/>
          <p:nvPr/>
        </p:nvSpPr>
        <p:spPr>
          <a:xfrm>
            <a:off x="2381759" y="3411496"/>
            <a:ext cx="705658" cy="181389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19DE7E7-C1C9-3E7C-18F2-21F5BBA5E997}"/>
              </a:ext>
            </a:extLst>
          </p:cNvPr>
          <p:cNvSpPr/>
          <p:nvPr/>
        </p:nvSpPr>
        <p:spPr>
          <a:xfrm>
            <a:off x="4605154" y="3411495"/>
            <a:ext cx="2822780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4" name="Picture 2" descr="connect, direction, path, way ">
            <a:extLst>
              <a:ext uri="{FF2B5EF4-FFF2-40B4-BE49-F238E27FC236}">
                <a16:creationId xmlns:a16="http://schemas.microsoft.com/office/drawing/2014/main" id="{5322CCA1-AF56-6855-0E10-D1086FA41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187" y="3227790"/>
            <a:ext cx="559434" cy="55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Arrow 37">
            <a:extLst>
              <a:ext uri="{FF2B5EF4-FFF2-40B4-BE49-F238E27FC236}">
                <a16:creationId xmlns:a16="http://schemas.microsoft.com/office/drawing/2014/main" id="{B82172C2-18AA-41C7-8D88-3AD2DC928219}"/>
              </a:ext>
            </a:extLst>
          </p:cNvPr>
          <p:cNvSpPr/>
          <p:nvPr/>
        </p:nvSpPr>
        <p:spPr>
          <a:xfrm>
            <a:off x="9333491" y="3429000"/>
            <a:ext cx="1307975" cy="18139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D4FE19-8C65-E565-4169-3B526D8F2E2E}"/>
              </a:ext>
            </a:extLst>
          </p:cNvPr>
          <p:cNvSpPr txBox="1"/>
          <p:nvPr/>
        </p:nvSpPr>
        <p:spPr>
          <a:xfrm>
            <a:off x="10641466" y="3890904"/>
            <a:ext cx="88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Slices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6" name="Picture 4" descr="request, doubt, how, ask, guess, bubble, faq ">
            <a:extLst>
              <a:ext uri="{FF2B5EF4-FFF2-40B4-BE49-F238E27FC236}">
                <a16:creationId xmlns:a16="http://schemas.microsoft.com/office/drawing/2014/main" id="{621AF33A-1862-B298-ACE3-A9D579FA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553" y="4444520"/>
            <a:ext cx="465476" cy="46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ight Arrow 39">
            <a:extLst>
              <a:ext uri="{FF2B5EF4-FFF2-40B4-BE49-F238E27FC236}">
                <a16:creationId xmlns:a16="http://schemas.microsoft.com/office/drawing/2014/main" id="{7D7BB9E5-5ACC-9CEA-0135-F9105AD0970F}"/>
              </a:ext>
            </a:extLst>
          </p:cNvPr>
          <p:cNvSpPr/>
          <p:nvPr/>
        </p:nvSpPr>
        <p:spPr>
          <a:xfrm rot="16200000">
            <a:off x="8173082" y="4033155"/>
            <a:ext cx="465477" cy="13913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15D8C4-CCED-F92B-C55A-7267691A94BD}"/>
              </a:ext>
            </a:extLst>
          </p:cNvPr>
          <p:cNvSpPr txBox="1"/>
          <p:nvPr/>
        </p:nvSpPr>
        <p:spPr>
          <a:xfrm>
            <a:off x="7538026" y="4923866"/>
            <a:ext cx="188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Slicing</a:t>
            </a:r>
            <a:r>
              <a:rPr lang="zh-CN" altLang="en-US" dirty="0">
                <a:latin typeface="Avenir Next LT Pro" panose="020B0504020202020204" pitchFamily="34" charset="77"/>
              </a:rPr>
              <a:t> </a:t>
            </a:r>
            <a:r>
              <a:rPr lang="en-US" altLang="zh-CN" dirty="0">
                <a:latin typeface="Avenir Next LT Pro" panose="020B0504020202020204" pitchFamily="34" charset="77"/>
              </a:rPr>
              <a:t>Request</a:t>
            </a:r>
            <a:endParaRPr lang="en-US" dirty="0">
              <a:latin typeface="Avenir Next LT Pro" panose="020B0504020202020204" pitchFamily="34" charset="77"/>
            </a:endParaRPr>
          </a:p>
        </p:txBody>
      </p:sp>
      <p:pic>
        <p:nvPicPr>
          <p:cNvPr id="8198" name="Picture 6" descr="tree-sitter · GitHub">
            <a:extLst>
              <a:ext uri="{FF2B5EF4-FFF2-40B4-BE49-F238E27FC236}">
                <a16:creationId xmlns:a16="http://schemas.microsoft.com/office/drawing/2014/main" id="{FAEFA67F-6EDC-B9AD-76EF-C8F157197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95" y="1801011"/>
            <a:ext cx="669110" cy="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Up-down Arrow 41">
            <a:extLst>
              <a:ext uri="{FF2B5EF4-FFF2-40B4-BE49-F238E27FC236}">
                <a16:creationId xmlns:a16="http://schemas.microsoft.com/office/drawing/2014/main" id="{A757A701-A721-A649-2096-33C9BA89A4F1}"/>
              </a:ext>
            </a:extLst>
          </p:cNvPr>
          <p:cNvSpPr/>
          <p:nvPr/>
        </p:nvSpPr>
        <p:spPr>
          <a:xfrm>
            <a:off x="3801533" y="2558022"/>
            <a:ext cx="177867" cy="583688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BC3F5-A826-4F5B-260D-08F7CD42CFD8}"/>
              </a:ext>
            </a:extLst>
          </p:cNvPr>
          <p:cNvSpPr txBox="1"/>
          <p:nvPr/>
        </p:nvSpPr>
        <p:spPr>
          <a:xfrm>
            <a:off x="2714040" y="1431224"/>
            <a:ext cx="27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venir Next LT Pro" panose="020B0504020202020204" pitchFamily="34" charset="77"/>
              </a:rPr>
              <a:t>parsing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library: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Tree-Sitter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D24FE-29C5-B8A9-03C6-CC119859C48A}"/>
              </a:ext>
            </a:extLst>
          </p:cNvPr>
          <p:cNvSpPr txBox="1"/>
          <p:nvPr/>
        </p:nvSpPr>
        <p:spPr>
          <a:xfrm>
            <a:off x="5372755" y="2452897"/>
            <a:ext cx="7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venir Next LT Pro" panose="020B0504020202020204" pitchFamily="34" charset="77"/>
              </a:rPr>
              <a:t>U6IR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8613D7-12A1-56E4-A1CD-30297D4D3D80}"/>
              </a:ext>
            </a:extLst>
          </p:cNvPr>
          <p:cNvSpPr txBox="1"/>
          <p:nvPr/>
        </p:nvSpPr>
        <p:spPr>
          <a:xfrm>
            <a:off x="4862905" y="2806671"/>
            <a:ext cx="2351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Call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venir Next LT Pro" panose="020B0504020202020204" pitchFamily="34" charset="77"/>
              </a:rPr>
              <a:t>Function</a:t>
            </a:r>
            <a:r>
              <a:rPr lang="zh-CN" altLang="en-US" sz="1600" dirty="0">
                <a:latin typeface="Avenir Next LT Pro" panose="020B0504020202020204" pitchFamily="34" charset="77"/>
              </a:rPr>
              <a:t> </a:t>
            </a:r>
            <a:r>
              <a:rPr lang="en-US" altLang="zh-CN" sz="1600" dirty="0">
                <a:latin typeface="Avenir Next LT Pro" panose="020B0504020202020204" pitchFamily="34" charset="77"/>
              </a:rPr>
              <a:t>meta-data</a:t>
            </a:r>
            <a:endParaRPr lang="en-US" sz="1600" dirty="0">
              <a:latin typeface="Avenir Next LT Pro" panose="020B0504020202020204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FF05120-8117-EC63-33A5-3F1F172E8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95" y="3366290"/>
            <a:ext cx="617478" cy="64370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90C3314-D036-F068-4840-FE8B5824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34" y="2927618"/>
            <a:ext cx="617478" cy="6437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BDBEC1-797B-C3E9-C7FF-792A060FDE20}"/>
              </a:ext>
            </a:extLst>
          </p:cNvPr>
          <p:cNvSpPr txBox="1"/>
          <p:nvPr/>
        </p:nvSpPr>
        <p:spPr>
          <a:xfrm>
            <a:off x="1285460" y="4485079"/>
            <a:ext cx="5928741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Maintain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queue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a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worklist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Process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each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intra-procedural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slicing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instance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sz="2000" dirty="0">
                <a:latin typeface="Avenir Next LT Pro" panose="020B0504020202020204" pitchFamily="34" charset="77"/>
              </a:rPr>
              <a:t>Collect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the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slices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in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relevant</a:t>
            </a:r>
            <a:r>
              <a:rPr lang="zh-CN" altLang="en-US" sz="2000" dirty="0">
                <a:latin typeface="Avenir Next LT Pro" panose="020B0504020202020204" pitchFamily="34" charset="77"/>
              </a:rPr>
              <a:t> </a:t>
            </a:r>
            <a:r>
              <a:rPr lang="en-US" altLang="zh-CN" sz="2000" dirty="0">
                <a:latin typeface="Avenir Next LT Pro" panose="020B0504020202020204" pitchFamily="34" charset="77"/>
              </a:rPr>
              <a:t>functions</a:t>
            </a:r>
            <a:endParaRPr lang="en-US" sz="2000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25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36DB8D-3EBE-2DF3-0061-7F405E13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HK" dirty="0" err="1"/>
              <a:t>SliceScanAgent</a:t>
            </a:r>
            <a:r>
              <a:rPr lang="en-HK" dirty="0"/>
              <a:t> in </a:t>
            </a:r>
            <a:r>
              <a:rPr lang="en-HK" i="1" dirty="0" err="1"/>
              <a:t>src</a:t>
            </a:r>
            <a:r>
              <a:rPr lang="en-HK" i="1" dirty="0"/>
              <a:t>/agent/</a:t>
            </a:r>
            <a:r>
              <a:rPr lang="en-HK" i="1" dirty="0" err="1"/>
              <a:t>slicescan.py</a:t>
            </a:r>
            <a:endParaRPr lang="en-HK" i="1" dirty="0"/>
          </a:p>
          <a:p>
            <a:endParaRPr lang="en-HK" i="1" dirty="0"/>
          </a:p>
          <a:p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HK" dirty="0" err="1"/>
              <a:t>SliceScanState</a:t>
            </a:r>
            <a:r>
              <a:rPr lang="en-HK" dirty="0"/>
              <a:t> in </a:t>
            </a:r>
            <a:r>
              <a:rPr lang="en-HK" i="1" dirty="0" err="1"/>
              <a:t>src</a:t>
            </a:r>
            <a:r>
              <a:rPr lang="en-HK" i="1" dirty="0"/>
              <a:t>/memory/state/</a:t>
            </a:r>
            <a:r>
              <a:rPr lang="en-HK" i="1" dirty="0" err="1"/>
              <a:t>slicescan_state.py</a:t>
            </a:r>
            <a:endParaRPr lang="en-HK" i="1" dirty="0"/>
          </a:p>
          <a:p>
            <a:endParaRPr lang="en-HK" i="1" dirty="0"/>
          </a:p>
          <a:p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polish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i="1" dirty="0"/>
              <a:t> </a:t>
            </a:r>
            <a:r>
              <a:rPr lang="en-HK" dirty="0"/>
              <a:t>Prompts</a:t>
            </a:r>
          </a:p>
          <a:p>
            <a:pPr lvl="1"/>
            <a:r>
              <a:rPr lang="en-HK" i="1" dirty="0" err="1"/>
              <a:t>src</a:t>
            </a:r>
            <a:r>
              <a:rPr lang="en-HK" i="1" dirty="0"/>
              <a:t>/prompt/</a:t>
            </a:r>
            <a:r>
              <a:rPr lang="en-HK" i="1" dirty="0" err="1"/>
              <a:t>Cpp</a:t>
            </a:r>
            <a:r>
              <a:rPr lang="en-HK" i="1" dirty="0"/>
              <a:t>/</a:t>
            </a:r>
            <a:r>
              <a:rPr lang="en-HK" i="1" dirty="0" err="1"/>
              <a:t>slicescan</a:t>
            </a:r>
            <a:r>
              <a:rPr lang="en-HK" i="1" dirty="0"/>
              <a:t>/</a:t>
            </a:r>
            <a:r>
              <a:rPr lang="en-HK" i="1" dirty="0" err="1"/>
              <a:t>forward_slicer.json</a:t>
            </a:r>
            <a:endParaRPr lang="en-HK" i="1" dirty="0"/>
          </a:p>
          <a:p>
            <a:pPr lvl="1"/>
            <a:r>
              <a:rPr lang="en-HK" i="1" dirty="0" err="1"/>
              <a:t>src</a:t>
            </a:r>
            <a:r>
              <a:rPr lang="en-HK" i="1" dirty="0"/>
              <a:t>/prompt/</a:t>
            </a:r>
            <a:r>
              <a:rPr lang="en-HK" i="1" dirty="0" err="1"/>
              <a:t>Cpp</a:t>
            </a:r>
            <a:r>
              <a:rPr lang="en-HK" i="1" dirty="0"/>
              <a:t>/</a:t>
            </a:r>
            <a:r>
              <a:rPr lang="en-HK" i="1" dirty="0" err="1"/>
              <a:t>slicescan</a:t>
            </a:r>
            <a:r>
              <a:rPr lang="en-HK" i="1" dirty="0"/>
              <a:t>/</a:t>
            </a:r>
            <a:r>
              <a:rPr lang="en-HK" i="1" dirty="0" err="1"/>
              <a:t>backward_slicer.json</a:t>
            </a:r>
            <a:endParaRPr lang="en-HK" i="1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23CF7-2D5A-F3F8-8E81-A65E9998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F5FD51-DD44-A310-CA15-7A3193F0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F99E-D905-80E5-D09C-4F12F276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B2E3CB-5B5F-94D7-B172-57B89C81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6587B1-49F9-ED5C-2F7F-55B72022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5A300-DBF5-D90D-9BE2-6BCF8421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6DCC99-2D43-EB11-0829-B51B9AD2E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Walk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intra-procedural</a:t>
            </a:r>
            <a:r>
              <a:rPr lang="zh-CN" altLang="en-US" dirty="0"/>
              <a:t> </a:t>
            </a:r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F372C-A69F-1343-EEB2-7253E9FC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0BF436-B020-E347-9AFF-31FB5E29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Demo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5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3316-336B-380C-C756-B9C83B20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D0764-581F-2FDD-5117-624ED5DC4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/>
              <a:t>Utilities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83D2F0-4F69-FF88-6ABE-131F6A86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3DD6E-90A1-16AB-FEBE-9D4688C0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EF98-82C9-D772-1690-C38EC276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BF535D-AD42-CDF4-C6EA-B11F525F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/memory/utils/</a:t>
            </a:r>
            <a:r>
              <a:rPr lang="en-US" altLang="zh-CN" i="1" dirty="0" err="1"/>
              <a:t>function.py</a:t>
            </a:r>
            <a:r>
              <a:rPr lang="en-US" altLang="zh-CN" dirty="0"/>
              <a:t>)</a:t>
            </a:r>
          </a:p>
          <a:p>
            <a:pPr lvl="1"/>
            <a:endParaRPr lang="en-HK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F0A542-8C9E-DEBF-0A48-66A9914F6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F6A4-93B0-C16A-3AB3-EDCFEF1F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588AE-6F86-3C55-351D-228F1A1C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44" y="1512887"/>
            <a:ext cx="8784712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C210E3-C8EB-50A8-D29B-FF8E1455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49" y="1875338"/>
            <a:ext cx="6297202" cy="25815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178F23-F20D-9690-F52F-1ECA45CA8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/memory/utils/</a:t>
            </a:r>
            <a:r>
              <a:rPr lang="en-US" altLang="zh-CN" i="1" dirty="0" err="1"/>
              <a:t>function.py</a:t>
            </a:r>
            <a:r>
              <a:rPr lang="en-US" altLang="zh-CN" dirty="0"/>
              <a:t>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9C163-C237-612A-288A-859831B4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D7CC18-4ED2-D983-3BF7-F486EAB9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46359-A6A1-D876-6FB0-6F4BA687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855" y="3047892"/>
            <a:ext cx="6809598" cy="2818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57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D1DB-23D0-6677-22EB-BEC7E567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D0C782-82C9-A463-8CA3-225866BE1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556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/>
              <a:t>U6IR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 err="1"/>
              <a:t>src</a:t>
            </a:r>
            <a:r>
              <a:rPr lang="en-US" altLang="zh-CN" i="1" dirty="0"/>
              <a:t>/memory/memory/IR/U6IR.py</a:t>
            </a:r>
            <a:r>
              <a:rPr lang="en-US" altLang="zh-CN" dirty="0"/>
              <a:t>)</a:t>
            </a:r>
          </a:p>
          <a:p>
            <a:pPr lvl="1"/>
            <a:endParaRPr lang="en-HK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6B5185-8C20-ECE4-3782-904927CAF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Utilities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392B-8321-8D40-C8AE-9FCD9EF4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5717E-55B8-110C-7866-7A5B1597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08" y="2069273"/>
            <a:ext cx="7772400" cy="4596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E29DE9-E4F7-0B18-7A71-D2727BF6A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08" y="3034495"/>
            <a:ext cx="7772400" cy="4614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85C33-99D8-B7BA-6E2A-8ADF38CC1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734" y="4001536"/>
            <a:ext cx="6335001" cy="787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75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205BD5-B866-EB6C-4840-CE694A6C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parameter</a:t>
            </a:r>
          </a:p>
          <a:p>
            <a:pPr lvl="1"/>
            <a:r>
              <a:rPr lang="en-US" altLang="zh-CN" dirty="0"/>
              <a:t>Input: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/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I:</a:t>
            </a:r>
            <a:r>
              <a:rPr lang="zh-CN" altLang="en-US" dirty="0"/>
              <a:t> </a:t>
            </a:r>
            <a:r>
              <a:rPr lang="en-US" altLang="zh-CN" dirty="0"/>
              <a:t>Retrieve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II: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sites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caller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r>
              <a:rPr lang="zh-CN" altLang="en-US" dirty="0"/>
              <a:t> </a:t>
            </a:r>
            <a:r>
              <a:rPr lang="en-US" altLang="zh-CN" dirty="0"/>
              <a:t>invoking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III: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site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1114B5-3BAF-B6DA-2491-D99A98BB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39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A1ABDB-74AB-BB7B-1E03-3D1D5990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Implementation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72B8C-8711-3A2B-CB2C-C1333955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81" y="2418595"/>
            <a:ext cx="7772400" cy="4596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BCAC9E-CE32-86ED-168E-FB19DB1F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055" y="3460420"/>
            <a:ext cx="6335001" cy="787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451F1C-6C03-5154-4F6D-CA3BBD9B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954" y="4927648"/>
            <a:ext cx="4213760" cy="14589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64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E25A9-853F-F663-5F40-FE636F30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19255-9880-164C-6803-D7013A8C5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603"/>
            <a:ext cx="10105000" cy="66807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286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A376-C83B-1F5C-BD4A-4E6AB7B3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37031E-6224-7FFA-CD86-A1BEBBB9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Overview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Installation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Quick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Start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What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Utilities</a:t>
            </a:r>
          </a:p>
          <a:p>
            <a:r>
              <a:rPr lang="en-US" altLang="zh-CN" dirty="0"/>
              <a:t>Submission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A6A01-01D9-7103-CFB3-FEAE2298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Project 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70A81-C744-4447-8667-6FA6440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0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EAA01-B364-C41D-8150-37A57DFB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1151742" cy="5059363"/>
          </a:xfrm>
        </p:spPr>
        <p:txBody>
          <a:bodyPr/>
          <a:lstStyle/>
          <a:p>
            <a:r>
              <a:rPr lang="en-HK" sz="2000" dirty="0"/>
              <a:t>Compress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HK" sz="2000" dirty="0"/>
              <a:t>directory</a:t>
            </a:r>
            <a:r>
              <a:rPr lang="zh-CN" altLang="en-US" sz="2000" dirty="0"/>
              <a:t> </a:t>
            </a:r>
            <a:r>
              <a:rPr lang="en-US" altLang="zh-CN" sz="2000" i="1" dirty="0" err="1"/>
              <a:t>src</a:t>
            </a:r>
            <a:r>
              <a:rPr lang="en-HK" sz="2000" dirty="0"/>
              <a:t> ONLY into</a:t>
            </a:r>
            <a:r>
              <a:rPr lang="zh-CN" altLang="en-US" sz="2000" dirty="0"/>
              <a:t> </a:t>
            </a:r>
            <a:r>
              <a:rPr lang="en-HK" sz="2000" dirty="0"/>
              <a:t>proj3_&lt;FirstName&gt;_&lt;LastName&gt;.</a:t>
            </a:r>
            <a:r>
              <a:rPr lang="en-HK" sz="2000" dirty="0" err="1"/>
              <a:t>tar.gz</a:t>
            </a:r>
            <a:endParaRPr lang="en-HK" sz="2000" dirty="0"/>
          </a:p>
          <a:p>
            <a:endParaRPr lang="en-HK" dirty="0"/>
          </a:p>
          <a:p>
            <a:r>
              <a:rPr lang="en-HK" sz="2000" dirty="0"/>
              <a:t>Submit it to Brightspace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HK" sz="2000" b="1" dirty="0"/>
              <a:t>Dec 12 11:59pm EST</a:t>
            </a:r>
          </a:p>
          <a:p>
            <a:endParaRPr lang="en-HK" dirty="0"/>
          </a:p>
          <a:p>
            <a:r>
              <a:rPr lang="en-HK" sz="2000" dirty="0"/>
              <a:t>Note that you should not modify other files outside the directory </a:t>
            </a:r>
            <a:r>
              <a:rPr lang="en-HK" sz="2000" i="1" dirty="0" err="1"/>
              <a:t>src</a:t>
            </a:r>
            <a:r>
              <a:rPr lang="en-US" altLang="zh-CN" sz="2000" dirty="0"/>
              <a:t>.</a:t>
            </a:r>
            <a:endParaRPr lang="en-HK" altLang="zh-CN" sz="2000" dirty="0"/>
          </a:p>
          <a:p>
            <a:pPr lvl="1"/>
            <a:r>
              <a:rPr lang="en-US" dirty="0"/>
              <a:t>Do</a:t>
            </a:r>
            <a:r>
              <a:rPr lang="en-US" altLang="zh-CN" dirty="0"/>
              <a:t>n’t</a:t>
            </a:r>
            <a:r>
              <a:rPr lang="en-HK" dirty="0"/>
              <a:t> load external models.</a:t>
            </a:r>
          </a:p>
          <a:p>
            <a:pPr lvl="1"/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package</a:t>
            </a:r>
            <a:r>
              <a:rPr lang="zh-CN" altLang="en-US" dirty="0"/>
              <a:t> </a:t>
            </a:r>
            <a:r>
              <a:rPr lang="en-US" altLang="zh-CN" dirty="0"/>
              <a:t>packages,</a:t>
            </a:r>
            <a:r>
              <a:rPr lang="zh-CN" altLang="en-US" dirty="0"/>
              <a:t> </a:t>
            </a:r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email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TA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approval.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D7A172-C5C1-DBF4-CD29-AB2215E8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AD7A39-028E-8D25-228D-EAD1CBF2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RepoSlice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Submission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4C54-5CEA-5334-4157-E4F6DD4B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FB5E4-D210-3158-DB23-0C3BD10B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47" y="1373460"/>
            <a:ext cx="9079506" cy="19579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BF82CD4-2C95-AABB-1B99-96658DB09EA1}"/>
              </a:ext>
            </a:extLst>
          </p:cNvPr>
          <p:cNvSpPr/>
          <p:nvPr/>
        </p:nvSpPr>
        <p:spPr>
          <a:xfrm rot="668169">
            <a:off x="3472227" y="2088944"/>
            <a:ext cx="187326" cy="1704201"/>
          </a:xfrm>
          <a:prstGeom prst="downArrow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92B3699-846C-FAFB-74AE-F2AB97E77BC0}"/>
              </a:ext>
            </a:extLst>
          </p:cNvPr>
          <p:cNvSpPr/>
          <p:nvPr/>
        </p:nvSpPr>
        <p:spPr>
          <a:xfrm rot="373232">
            <a:off x="8395795" y="2405006"/>
            <a:ext cx="176993" cy="2009546"/>
          </a:xfrm>
          <a:prstGeom prst="downArrow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2BD329-EB86-8B30-5200-038674F9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4D7E-D20C-0A00-BFC1-6E86F732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331D8-5694-7661-C1C4-66BFA305B56D}"/>
              </a:ext>
            </a:extLst>
          </p:cNvPr>
          <p:cNvSpPr txBox="1"/>
          <p:nvPr/>
        </p:nvSpPr>
        <p:spPr>
          <a:xfrm>
            <a:off x="774394" y="3892830"/>
            <a:ext cx="588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https://platform.openai.com/settings/organization/projects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A86C1-2B19-2B0A-4A11-13FD5F59EA5D}"/>
              </a:ext>
            </a:extLst>
          </p:cNvPr>
          <p:cNvSpPr txBox="1"/>
          <p:nvPr/>
        </p:nvSpPr>
        <p:spPr>
          <a:xfrm>
            <a:off x="5831868" y="4505589"/>
            <a:ext cx="555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https://platform.openai.com/settings/organization/usage</a:t>
            </a:r>
            <a:endParaRPr lang="en-US" dirty="0"/>
          </a:p>
        </p:txBody>
      </p:sp>
      <p:pic>
        <p:nvPicPr>
          <p:cNvPr id="10" name="Picture 9" descr="A screenshot of a chat&#10;&#10;AI-generated content may be incorrect.">
            <a:extLst>
              <a:ext uri="{FF2B5EF4-FFF2-40B4-BE49-F238E27FC236}">
                <a16:creationId xmlns:a16="http://schemas.microsoft.com/office/drawing/2014/main" id="{5BEDB11A-9B94-65B8-4C7A-BF12699F1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15" y="2186611"/>
            <a:ext cx="10799791" cy="378177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796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7364B2-43FF-6E25-72B9-E1C4168E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Step-by-step</a:t>
            </a:r>
            <a:r>
              <a:rPr lang="zh-CN" altLang="en-US" dirty="0"/>
              <a:t> </a:t>
            </a:r>
            <a:r>
              <a:rPr lang="en-US" altLang="zh-CN" dirty="0"/>
              <a:t>debugging</a:t>
            </a:r>
          </a:p>
          <a:p>
            <a:endParaRPr lang="en-US" dirty="0"/>
          </a:p>
          <a:p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logs</a:t>
            </a:r>
            <a:r>
              <a:rPr lang="zh-CN" altLang="en-US" dirty="0"/>
              <a:t> </a:t>
            </a:r>
            <a:r>
              <a:rPr lang="en-US" altLang="zh-CN" dirty="0"/>
              <a:t>carefully</a:t>
            </a:r>
          </a:p>
          <a:p>
            <a:endParaRPr lang="en-US" dirty="0"/>
          </a:p>
          <a:p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prompts</a:t>
            </a:r>
            <a:r>
              <a:rPr lang="zh-CN" altLang="en-US" dirty="0"/>
              <a:t> </a:t>
            </a:r>
            <a:r>
              <a:rPr lang="en-US" altLang="zh-CN" dirty="0"/>
              <a:t>human-interpretable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E8F61-62ED-53C6-1D29-F9AF4982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91174C-C56F-8823-0603-7DB2DB1E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1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A4CC-B303-D044-0498-BCC46FD0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9D1BA-B07D-A7C2-32AF-63A9F01D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0515600" cy="484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Program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LLM-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rogram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licing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3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RepoSlice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Grading</a:t>
            </a:r>
            <a:r>
              <a:rPr lang="zh-CN" altLang="en-US" dirty="0"/>
              <a:t> </a:t>
            </a:r>
            <a:r>
              <a:rPr lang="en-US" altLang="zh-CN" dirty="0"/>
              <a:t>Criteria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04AF94-FC6C-AE05-EFC5-1DAF2CF5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D4DE5-4339-1A7B-CDF5-19FB5D93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7F6B-AD16-EF00-2ADE-2F3DC581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83AB2E-2C07-954A-BAB2-B0D2C515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268"/>
            <a:ext cx="11018178" cy="4843463"/>
          </a:xfrm>
        </p:spPr>
        <p:txBody>
          <a:bodyPr>
            <a:normAutofit/>
          </a:bodyPr>
          <a:lstStyle/>
          <a:p>
            <a:r>
              <a:rPr lang="en-US" dirty="0"/>
              <a:t>Manual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TODOs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implemented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templates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designed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invoke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endParaRPr lang="en-HK" altLang="zh-CN" dirty="0"/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invoke</a:t>
            </a:r>
            <a:r>
              <a:rPr lang="zh-CN" altLang="en-US" dirty="0"/>
              <a:t> </a:t>
            </a:r>
            <a:r>
              <a:rPr lang="en-HK" dirty="0" err="1"/>
              <a:t>IntraSlicer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implement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worklist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Testcases: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 </a:t>
            </a:r>
            <a:r>
              <a:rPr lang="en-US" altLang="zh-CN" dirty="0"/>
              <a:t>public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US" altLang="zh-CN" dirty="0"/>
              <a:t>hidden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programs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pointers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recursions</a:t>
            </a:r>
          </a:p>
          <a:p>
            <a:pPr lvl="1"/>
            <a:endParaRPr lang="en-US" dirty="0"/>
          </a:p>
          <a:p>
            <a:r>
              <a:rPr lang="en-US" dirty="0"/>
              <a:t>Run</a:t>
            </a:r>
            <a:r>
              <a:rPr lang="zh-CN" altLang="en-US" dirty="0"/>
              <a:t> </a:t>
            </a:r>
            <a:r>
              <a:rPr lang="en-US" altLang="zh-CN" dirty="0" err="1"/>
              <a:t>RepoSlice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gpt-4o-mini</a:t>
            </a:r>
            <a:r>
              <a:rPr lang="zh-CN" altLang="en-US" dirty="0"/>
              <a:t> </a:t>
            </a:r>
            <a:r>
              <a:rPr lang="en-US" altLang="zh-CN" dirty="0"/>
              <a:t>five</a:t>
            </a:r>
            <a:r>
              <a:rPr lang="zh-CN" altLang="en-US" dirty="0"/>
              <a:t> </a:t>
            </a:r>
            <a:r>
              <a:rPr lang="en-US" altLang="zh-CN" dirty="0"/>
              <a:t>times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choose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highest</a:t>
            </a:r>
            <a:r>
              <a:rPr lang="zh-CN" altLang="en-US" dirty="0"/>
              <a:t> </a:t>
            </a:r>
            <a:r>
              <a:rPr lang="en-US" altLang="zh-CN" dirty="0"/>
              <a:t>scores</a:t>
            </a:r>
          </a:p>
          <a:p>
            <a:pPr lvl="1"/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 err="1"/>
              <a:t>run_judger.sh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F1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</a:p>
          <a:p>
            <a:pPr lvl="1"/>
            <a:r>
              <a:rPr lang="en-US" altLang="zh-CN" dirty="0"/>
              <a:t>Obtain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slicing</a:t>
            </a:r>
            <a:r>
              <a:rPr lang="zh-CN" altLang="en-US" dirty="0"/>
              <a:t> </a:t>
            </a:r>
            <a:r>
              <a:rPr lang="en-US" altLang="zh-CN" dirty="0"/>
              <a:t>request:</a:t>
            </a:r>
            <a:r>
              <a:rPr lang="zh-CN" altLang="en-US" dirty="0"/>
              <a:t> </a:t>
            </a:r>
            <a:r>
              <a:rPr lang="en-HK" dirty="0"/>
              <a:t>min(Your_F1_score × 1.25, 1.0) × 10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04176-AA4B-34AA-6F47-E063677B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30"/>
            <a:ext cx="10515600" cy="682838"/>
          </a:xfrm>
        </p:spPr>
        <p:txBody>
          <a:bodyPr/>
          <a:lstStyle/>
          <a:p>
            <a:r>
              <a:rPr lang="en-US" dirty="0"/>
              <a:t>Grading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B1F47-183F-4D79-6E1D-3711FB84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1CD21-9266-CEC6-304A-1B2A7422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upload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recording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tutorial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HK" dirty="0"/>
              <a:t>Brightspace</a:t>
            </a:r>
          </a:p>
          <a:p>
            <a:endParaRPr lang="en-HK" dirty="0"/>
          </a:p>
          <a:p>
            <a:r>
              <a:rPr lang="en-HK" dirty="0"/>
              <a:t>If you have any further questions, please feel free to reach out to us:</a:t>
            </a:r>
          </a:p>
          <a:p>
            <a:pPr lvl="1"/>
            <a:r>
              <a:rPr lang="en-HK" dirty="0"/>
              <a:t>Chengpeng Wang: </a:t>
            </a:r>
            <a:r>
              <a:rPr lang="en-HK" u="sng" dirty="0">
                <a:hlinkClick r:id="rId2"/>
              </a:rPr>
              <a:t>wang6590@purdue.edu</a:t>
            </a:r>
            <a:endParaRPr lang="en-HK" dirty="0"/>
          </a:p>
          <a:p>
            <a:pPr lvl="1"/>
            <a:r>
              <a:rPr lang="en-HK" dirty="0" err="1"/>
              <a:t>Shiwei</a:t>
            </a:r>
            <a:r>
              <a:rPr lang="en-HK" dirty="0"/>
              <a:t> Feng: </a:t>
            </a:r>
            <a:r>
              <a:rPr lang="en-HK" u="sng" dirty="0">
                <a:hlinkClick r:id="rId3"/>
              </a:rPr>
              <a:t>feng292@purdue.edu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998AB-4805-18A0-9ED2-583E2CC6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F091-3A24-4346-912C-5ECD06B05EBE}" type="slidenum">
              <a:rPr lang="en-US" smtClean="0"/>
              <a:t>47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1DAA27-DA69-F367-F3AD-A0E71020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5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D744C80-E65F-0E43-A848-F560D446061D}" vid="{66A7C92C-2C99-C140-BD38-B48B666CC1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6897</TotalTime>
  <Words>2090</Words>
  <Application>Microsoft Macintosh PowerPoint</Application>
  <PresentationFormat>Widescreen</PresentationFormat>
  <Paragraphs>433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Avenir Next LT Pro</vt:lpstr>
      <vt:lpstr>Calibri</vt:lpstr>
      <vt:lpstr>Consolas</vt:lpstr>
      <vt:lpstr>Lucida Sans</vt:lpstr>
      <vt:lpstr>Times New Roman</vt:lpstr>
      <vt:lpstr>Verdana</vt:lpstr>
      <vt:lpstr>Wingdings</vt:lpstr>
      <vt:lpstr>Office Theme</vt:lpstr>
      <vt:lpstr>Project 3 Tutorial Repository-level Program Slicing</vt:lpstr>
      <vt:lpstr>Overview</vt:lpstr>
      <vt:lpstr>Overview</vt:lpstr>
      <vt:lpstr>Recap on Program Slicing</vt:lpstr>
      <vt:lpstr>Data/Control Dependence in Dependence Graph</vt:lpstr>
      <vt:lpstr>Data/Control Dependence in Dependence Graph</vt:lpstr>
      <vt:lpstr>How to Compute Slices</vt:lpstr>
      <vt:lpstr>Overview</vt:lpstr>
      <vt:lpstr>Why We Need LLMs for Program Slicing</vt:lpstr>
      <vt:lpstr>Why LLMs Support Slicing</vt:lpstr>
      <vt:lpstr>Why LLMs Support Slicing</vt:lpstr>
      <vt:lpstr>Why LLMs Support Slicing</vt:lpstr>
      <vt:lpstr>LLM-driven Program Slicing </vt:lpstr>
      <vt:lpstr>Demo Time</vt:lpstr>
      <vt:lpstr>Overview</vt:lpstr>
      <vt:lpstr>Project 3: RepoSlice</vt:lpstr>
      <vt:lpstr>RepoSlice: README</vt:lpstr>
      <vt:lpstr>Project 3: RepoSlice</vt:lpstr>
      <vt:lpstr>RepoSlice: Overview</vt:lpstr>
      <vt:lpstr>RepoSlice: Overview</vt:lpstr>
      <vt:lpstr>Project 3: RepoSlice</vt:lpstr>
      <vt:lpstr>RepoSlice: Installation and Quick Start</vt:lpstr>
      <vt:lpstr>RepoSlice: Installation and Quick Start</vt:lpstr>
      <vt:lpstr>Project 3: RepoSlice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RepoSlice: What U Need to Do</vt:lpstr>
      <vt:lpstr>Project 3: RepoSlice</vt:lpstr>
      <vt:lpstr>RepoSlice: Demo Time</vt:lpstr>
      <vt:lpstr>Project 3: RepoSlice</vt:lpstr>
      <vt:lpstr>RepoSlice: Utilities</vt:lpstr>
      <vt:lpstr>RepoSlice: Utilities</vt:lpstr>
      <vt:lpstr>RepoSlice: Utilities</vt:lpstr>
      <vt:lpstr>Example Implementation</vt:lpstr>
      <vt:lpstr>PowerPoint Presentation</vt:lpstr>
      <vt:lpstr>Project 3: RepoSlice</vt:lpstr>
      <vt:lpstr>RepoSlice: Submission</vt:lpstr>
      <vt:lpstr>API Token Cost</vt:lpstr>
      <vt:lpstr>Important Tips</vt:lpstr>
      <vt:lpstr>Overview</vt:lpstr>
      <vt:lpstr>Grading Criteria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Shiwei Feng</dc:creator>
  <cp:lastModifiedBy>Chengpeng Wang</cp:lastModifiedBy>
  <cp:revision>22</cp:revision>
  <cp:lastPrinted>2025-09-18T19:51:27Z</cp:lastPrinted>
  <dcterms:created xsi:type="dcterms:W3CDTF">2025-09-14T18:49:58Z</dcterms:created>
  <dcterms:modified xsi:type="dcterms:W3CDTF">2025-11-11T21:53:22Z</dcterms:modified>
</cp:coreProperties>
</file>